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0B99B-52A4-79A6-7C0D-0B7F8ADDF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339A5F-BF66-97C6-34F1-3064EE53D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6B1607-19D8-956D-AA43-19C872E09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ED2EA0-A8BB-07A1-0B5D-A0D6147D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112239-FA85-9D37-8037-29F6AA01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2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CD1DC1-3017-0D90-4CAE-1D2E1AB1C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FC61DE-5F6D-0723-BBED-FFEB88648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DE12A8-E106-24CC-CE94-2C4C0848A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955BC-DB57-550D-E2E3-4F21DB499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1D1B4-CBED-EB43-BD0A-90189A8C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33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31511-9BAB-9423-E504-2F914811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238CA2-A19B-34F0-718D-BE70B8E3A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38E50-142C-65AD-D3E6-7523FEEF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53AF33-992F-FD37-4961-795DFA41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0B0526-BD93-B03D-4415-C3915C35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03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ED97C-DE0E-1242-919E-27890B2A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3F177-EAF9-0C6F-5A63-04E3010D8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C1D6D3-3ECC-3FC7-E371-ADC25E103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6EA97-1F49-17CF-2D56-52B8C286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D82124-DD62-6CCC-D4FD-8FCBD917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C3CE95-A624-D757-9C37-44973B49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65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DDCA7-4FA8-758D-6CC1-CA22445B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B7F195-1E6C-0952-C2AB-01D189B5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90F3FE-97CC-CEEC-736B-3D4D61CD8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9FE269-F9C7-4948-BC27-218708E1E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E2C524-8919-9309-2ACF-CCB68AAF1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52022B0-EE23-5B54-EFCC-8F2D0CB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02D34E-AECD-0C8C-6B68-0F9B3BB41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AA771-0E47-C49F-91F1-75487A8F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79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93B8F-86FF-5121-1327-7120D9A8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C499B0-92B9-23CA-BA94-C160B266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FE8EC2-6EA4-7671-D890-A6205AE5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D1966B-8812-370C-BE59-0C38FAB2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52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4C84AA-4DAE-2704-AA56-84F464C0B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AB9B41-B5E0-901B-11F3-CEEE86A8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D58A9C-C437-DCEF-AE2E-F0606A6C1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41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3F2F2-4A25-6266-C7A5-E238A590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DE28BB-2932-0217-A59A-18F6EB1A1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33B829-9CC4-E541-BC46-FBF581152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8B9510-C819-D878-9144-C8227887D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6163FD-E3F5-F803-FEA2-A184CC1F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D07265-FBA5-DEB6-02BF-6EC4C6F9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744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EC7FFE-261B-87C0-A834-5C957418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7D45C8-BEF1-4FE0-0EAE-96C08C5DA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AB8E6A-BA65-0D7F-766E-A36B2128D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5B84D5-9A44-DFE0-B4BB-B4F664E8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4C0760-A180-3473-13CE-7291D374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E91876-B141-47CB-F34D-2C0B1FA2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12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2EB1E-B481-0482-7FFA-538E8F08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A5853A-7F6F-16CF-F212-053223EC9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84E4D-082E-5ADC-2E08-746AABBD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65361D-78D8-AEB0-5717-ECE6E8D2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8D8FF-1437-1D24-F5A1-B848DFF2F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817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0E9D03-1998-F450-5D0C-389C6BC35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847B98-B5A7-9343-0C40-0454E5F2B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5BAA9E-CC6C-EBA0-282F-59B9AACD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73A5E1-EC06-41EC-74DC-60076C61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5A3F87-F896-A60E-E0E0-071512B2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16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BE7FC00-F37A-C192-DF26-AA49C436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7C606F-7A06-E99C-D112-3B04EFC4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CFE15-61DB-2000-3BFA-F4E8E77DA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705B6-135B-46B4-9EFB-C45DA66C00BA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AB528-F3A6-D330-2D40-1A26FEDA8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76EA17-4F3F-B574-F38F-2EE6B880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733BA-69A4-429B-BCC4-6B2629619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64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그룹 93">
            <a:extLst>
              <a:ext uri="{FF2B5EF4-FFF2-40B4-BE49-F238E27FC236}">
                <a16:creationId xmlns:a16="http://schemas.microsoft.com/office/drawing/2014/main" id="{F9A34518-C3BF-D128-087B-06B032EAFDE7}"/>
              </a:ext>
            </a:extLst>
          </p:cNvPr>
          <p:cNvGrpSpPr/>
          <p:nvPr/>
        </p:nvGrpSpPr>
        <p:grpSpPr>
          <a:xfrm>
            <a:off x="280802" y="1736179"/>
            <a:ext cx="5574649" cy="4407788"/>
            <a:chOff x="280802" y="1736179"/>
            <a:chExt cx="5574649" cy="440778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1A94201A-C7C5-03A2-A82D-18D522226868}"/>
                </a:ext>
              </a:extLst>
            </p:cNvPr>
            <p:cNvSpPr/>
            <p:nvPr/>
          </p:nvSpPr>
          <p:spPr>
            <a:xfrm>
              <a:off x="1043608" y="2107095"/>
              <a:ext cx="4363350" cy="1689652"/>
            </a:xfrm>
            <a:custGeom>
              <a:avLst/>
              <a:gdLst>
                <a:gd name="csX0" fmla="*/ 0 w 4363350"/>
                <a:gd name="csY0" fmla="*/ 238539 h 1689652"/>
                <a:gd name="csX1" fmla="*/ 477079 w 4363350"/>
                <a:gd name="csY1" fmla="*/ 59635 h 1689652"/>
                <a:gd name="csX2" fmla="*/ 1182757 w 4363350"/>
                <a:gd name="csY2" fmla="*/ 0 h 1689652"/>
                <a:gd name="csX3" fmla="*/ 1888435 w 4363350"/>
                <a:gd name="csY3" fmla="*/ 129209 h 1689652"/>
                <a:gd name="csX4" fmla="*/ 1967948 w 4363350"/>
                <a:gd name="csY4" fmla="*/ 208722 h 1689652"/>
                <a:gd name="csX5" fmla="*/ 2057400 w 4363350"/>
                <a:gd name="csY5" fmla="*/ 318052 h 1689652"/>
                <a:gd name="csX6" fmla="*/ 2156792 w 4363350"/>
                <a:gd name="csY6" fmla="*/ 487018 h 1689652"/>
                <a:gd name="csX7" fmla="*/ 2335696 w 4363350"/>
                <a:gd name="csY7" fmla="*/ 616226 h 1689652"/>
                <a:gd name="csX8" fmla="*/ 2792896 w 4363350"/>
                <a:gd name="csY8" fmla="*/ 655983 h 1689652"/>
                <a:gd name="csX9" fmla="*/ 3269974 w 4363350"/>
                <a:gd name="csY9" fmla="*/ 735496 h 1689652"/>
                <a:gd name="csX10" fmla="*/ 3448879 w 4363350"/>
                <a:gd name="csY10" fmla="*/ 854765 h 1689652"/>
                <a:gd name="csX11" fmla="*/ 3607905 w 4363350"/>
                <a:gd name="csY11" fmla="*/ 1013792 h 1689652"/>
                <a:gd name="csX12" fmla="*/ 3776870 w 4363350"/>
                <a:gd name="csY12" fmla="*/ 1242392 h 1689652"/>
                <a:gd name="csX13" fmla="*/ 3896140 w 4363350"/>
                <a:gd name="csY13" fmla="*/ 1341783 h 1689652"/>
                <a:gd name="csX14" fmla="*/ 4234070 w 4363350"/>
                <a:gd name="csY14" fmla="*/ 1520687 h 1689652"/>
                <a:gd name="csX15" fmla="*/ 4293705 w 4363350"/>
                <a:gd name="csY15" fmla="*/ 1560444 h 1689652"/>
                <a:gd name="csX16" fmla="*/ 4333461 w 4363350"/>
                <a:gd name="csY16" fmla="*/ 1630018 h 1689652"/>
                <a:gd name="csX17" fmla="*/ 4343400 w 4363350"/>
                <a:gd name="csY17" fmla="*/ 1659835 h 1689652"/>
                <a:gd name="csX18" fmla="*/ 4363279 w 4363350"/>
                <a:gd name="csY18" fmla="*/ 1689652 h 16896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4363350" h="1689652">
                  <a:moveTo>
                    <a:pt x="0" y="238539"/>
                  </a:moveTo>
                  <a:cubicBezTo>
                    <a:pt x="164577" y="128823"/>
                    <a:pt x="141953" y="136351"/>
                    <a:pt x="477079" y="59635"/>
                  </a:cubicBezTo>
                  <a:cubicBezTo>
                    <a:pt x="706448" y="7129"/>
                    <a:pt x="949013" y="7791"/>
                    <a:pt x="1182757" y="0"/>
                  </a:cubicBezTo>
                  <a:cubicBezTo>
                    <a:pt x="1411597" y="26005"/>
                    <a:pt x="1670937" y="29781"/>
                    <a:pt x="1888435" y="129209"/>
                  </a:cubicBezTo>
                  <a:cubicBezTo>
                    <a:pt x="1922525" y="144793"/>
                    <a:pt x="1942955" y="180788"/>
                    <a:pt x="1967948" y="208722"/>
                  </a:cubicBezTo>
                  <a:cubicBezTo>
                    <a:pt x="1999345" y="243813"/>
                    <a:pt x="2030961" y="279089"/>
                    <a:pt x="2057400" y="318052"/>
                  </a:cubicBezTo>
                  <a:cubicBezTo>
                    <a:pt x="2094091" y="372122"/>
                    <a:pt x="2116951" y="435225"/>
                    <a:pt x="2156792" y="487018"/>
                  </a:cubicBezTo>
                  <a:cubicBezTo>
                    <a:pt x="2187573" y="527034"/>
                    <a:pt x="2276573" y="602582"/>
                    <a:pt x="2335696" y="616226"/>
                  </a:cubicBezTo>
                  <a:cubicBezTo>
                    <a:pt x="2405485" y="632331"/>
                    <a:pt x="2767147" y="653599"/>
                    <a:pt x="2792896" y="655983"/>
                  </a:cubicBezTo>
                  <a:cubicBezTo>
                    <a:pt x="3069271" y="681573"/>
                    <a:pt x="3015287" y="677612"/>
                    <a:pt x="3269974" y="735496"/>
                  </a:cubicBezTo>
                  <a:cubicBezTo>
                    <a:pt x="3372900" y="791637"/>
                    <a:pt x="3372229" y="781448"/>
                    <a:pt x="3448879" y="854765"/>
                  </a:cubicBezTo>
                  <a:cubicBezTo>
                    <a:pt x="3503052" y="906583"/>
                    <a:pt x="3568615" y="949947"/>
                    <a:pt x="3607905" y="1013792"/>
                  </a:cubicBezTo>
                  <a:cubicBezTo>
                    <a:pt x="3677768" y="1127318"/>
                    <a:pt x="3682683" y="1152690"/>
                    <a:pt x="3776870" y="1242392"/>
                  </a:cubicBezTo>
                  <a:cubicBezTo>
                    <a:pt x="3814345" y="1278083"/>
                    <a:pt x="3853910" y="1311870"/>
                    <a:pt x="3896140" y="1341783"/>
                  </a:cubicBezTo>
                  <a:cubicBezTo>
                    <a:pt x="3978828" y="1400354"/>
                    <a:pt x="4163635" y="1482954"/>
                    <a:pt x="4234070" y="1520687"/>
                  </a:cubicBezTo>
                  <a:cubicBezTo>
                    <a:pt x="4255129" y="1531969"/>
                    <a:pt x="4273827" y="1547192"/>
                    <a:pt x="4293705" y="1560444"/>
                  </a:cubicBezTo>
                  <a:cubicBezTo>
                    <a:pt x="4306957" y="1583635"/>
                    <a:pt x="4321516" y="1606127"/>
                    <a:pt x="4333461" y="1630018"/>
                  </a:cubicBezTo>
                  <a:cubicBezTo>
                    <a:pt x="4338146" y="1639389"/>
                    <a:pt x="4338010" y="1650851"/>
                    <a:pt x="4343400" y="1659835"/>
                  </a:cubicBezTo>
                  <a:cubicBezTo>
                    <a:pt x="4365622" y="1696870"/>
                    <a:pt x="4363279" y="1665105"/>
                    <a:pt x="4363279" y="1689652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noProof="1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DF8E1BE-3A7A-A9D1-806D-C6F2E66A331F}"/>
                </a:ext>
              </a:extLst>
            </p:cNvPr>
            <p:cNvSpPr/>
            <p:nvPr/>
          </p:nvSpPr>
          <p:spPr>
            <a:xfrm>
              <a:off x="959125" y="2266121"/>
              <a:ext cx="168966" cy="168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noProof="1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A49D8EB-2A54-AA69-7A45-FB3AC85368D9}"/>
                </a:ext>
              </a:extLst>
            </p:cNvPr>
            <p:cNvSpPr/>
            <p:nvPr/>
          </p:nvSpPr>
          <p:spPr>
            <a:xfrm>
              <a:off x="5322475" y="3712264"/>
              <a:ext cx="168966" cy="168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noProof="1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5851DCFE-A2FB-424D-1420-77DB8FF3C044}"/>
                </a:ext>
              </a:extLst>
            </p:cNvPr>
            <p:cNvSpPr/>
            <p:nvPr/>
          </p:nvSpPr>
          <p:spPr>
            <a:xfrm>
              <a:off x="1128091" y="5605669"/>
              <a:ext cx="168966" cy="168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noProof="1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8AED0B-C8AD-5AC7-2B74-35A8355A89B6}"/>
                </a:ext>
              </a:extLst>
            </p:cNvPr>
            <p:cNvSpPr txBox="1"/>
            <p:nvPr/>
          </p:nvSpPr>
          <p:spPr>
            <a:xfrm>
              <a:off x="1297057" y="5774635"/>
              <a:ext cx="8290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Origin</a:t>
              </a: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12F90A75-B727-F844-591E-45A9FD1BE013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H="1" flipV="1">
              <a:off x="1053548" y="2474843"/>
              <a:ext cx="159026" cy="3130826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49ADB6-A279-328C-7FF9-AE1177ACC8CA}"/>
                </a:ext>
              </a:extLst>
            </p:cNvPr>
            <p:cNvSpPr txBox="1"/>
            <p:nvPr/>
          </p:nvSpPr>
          <p:spPr>
            <a:xfrm>
              <a:off x="3575658" y="2299325"/>
              <a:ext cx="1699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PathRC의 곡선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C39505-F3E4-7161-C9C3-6ADBFC9E46EA}"/>
                </a:ext>
              </a:extLst>
            </p:cNvPr>
            <p:cNvSpPr txBox="1"/>
            <p:nvPr/>
          </p:nvSpPr>
          <p:spPr>
            <a:xfrm>
              <a:off x="280802" y="3511898"/>
              <a:ext cx="728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P1_rc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DE166C-6A9F-C261-C492-9CE1C3EF5D5D}"/>
                </a:ext>
              </a:extLst>
            </p:cNvPr>
            <p:cNvSpPr txBox="1"/>
            <p:nvPr/>
          </p:nvSpPr>
          <p:spPr>
            <a:xfrm>
              <a:off x="5127431" y="3995529"/>
              <a:ext cx="728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P2_rc</a:t>
              </a: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59AF5206-4FD5-5D88-E90D-8E797E7F61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1952" y="2763132"/>
              <a:ext cx="105982" cy="287166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A95F341D-7AFB-77DB-23D0-6B56FCB7FA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3000" y="2395330"/>
              <a:ext cx="4194313" cy="1361661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57A121-B409-6952-86FB-62046CA7977B}"/>
                </a:ext>
              </a:extLst>
            </p:cNvPr>
            <p:cNvSpPr txBox="1"/>
            <p:nvPr/>
          </p:nvSpPr>
          <p:spPr>
            <a:xfrm>
              <a:off x="3466660" y="2812774"/>
              <a:ext cx="166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n (unit vector)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7A65626-C261-4A64-8AC0-9934013064E5}"/>
                </a:ext>
              </a:extLst>
            </p:cNvPr>
            <p:cNvSpPr txBox="1"/>
            <p:nvPr/>
          </p:nvSpPr>
          <p:spPr>
            <a:xfrm>
              <a:off x="2311593" y="2812774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t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36A7EA34-2A64-EC2C-AD6E-C88046055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240" y="2163417"/>
              <a:ext cx="514350" cy="346710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6450603-4921-4E72-16E8-ACC812B0A5BA}"/>
                </a:ext>
              </a:extLst>
            </p:cNvPr>
            <p:cNvSpPr/>
            <p:nvPr/>
          </p:nvSpPr>
          <p:spPr>
            <a:xfrm>
              <a:off x="1644097" y="2037989"/>
              <a:ext cx="168966" cy="1689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noProof="1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5D3B3C-BE08-50B0-EE0A-EDED32C5D9B0}"/>
                </a:ext>
              </a:extLst>
            </p:cNvPr>
            <p:cNvSpPr txBox="1"/>
            <p:nvPr/>
          </p:nvSpPr>
          <p:spPr>
            <a:xfrm>
              <a:off x="1507847" y="3843994"/>
              <a:ext cx="936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pathRC</a:t>
              </a: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3F458641-A2D3-93D8-E222-492E76AE2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4315" y="2117448"/>
              <a:ext cx="666750" cy="2381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E969F37-589C-DE9F-5A86-020537006A50}"/>
                </a:ext>
              </a:extLst>
            </p:cNvPr>
            <p:cNvSpPr txBox="1"/>
            <p:nvPr/>
          </p:nvSpPr>
          <p:spPr>
            <a:xfrm>
              <a:off x="1176347" y="1736179"/>
              <a:ext cx="442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rel</a:t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C8283356-B75E-B79A-C9B9-DB0A72341194}"/>
              </a:ext>
            </a:extLst>
          </p:cNvPr>
          <p:cNvGrpSpPr/>
          <p:nvPr/>
        </p:nvGrpSpPr>
        <p:grpSpPr>
          <a:xfrm>
            <a:off x="3782609" y="5097188"/>
            <a:ext cx="5718472" cy="1131916"/>
            <a:chOff x="3782609" y="5097188"/>
            <a:chExt cx="5718472" cy="1131916"/>
          </a:xfrm>
        </p:grpSpPr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729A8239-0BE7-DD2E-9564-61B1FC1F2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1046" y="5408424"/>
              <a:ext cx="105982" cy="287166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45C25EFD-5360-0CCB-ED7B-1E0AEF4FAA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1046" y="5458066"/>
              <a:ext cx="666750" cy="2381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9A2EB3-E4FA-2F26-479D-85389D82A192}"/>
                </a:ext>
              </a:extLst>
            </p:cNvPr>
            <p:cNvSpPr txBox="1"/>
            <p:nvPr/>
          </p:nvSpPr>
          <p:spPr>
            <a:xfrm>
              <a:off x="4431538" y="5097188"/>
              <a:ext cx="442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rel</a:t>
              </a: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2C1486D3-8C96-635B-F5FE-D92AF06BA202}"/>
                </a:ext>
              </a:extLst>
            </p:cNvPr>
            <p:cNvCxnSpPr/>
            <p:nvPr/>
          </p:nvCxnSpPr>
          <p:spPr>
            <a:xfrm>
              <a:off x="4161046" y="5695590"/>
              <a:ext cx="545141" cy="18468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75565621-980A-6432-8334-FD36A9AB0F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6187" y="5465934"/>
              <a:ext cx="161925" cy="423482"/>
            </a:xfrm>
            <a:prstGeom prst="straightConnector1">
              <a:avLst/>
            </a:prstGeom>
            <a:ln>
              <a:solidFill>
                <a:srgbClr val="7030A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7B6D360-07E4-BD47-3DD8-C15990215B8E}"/>
                </a:ext>
              </a:extLst>
            </p:cNvPr>
            <p:cNvSpPr txBox="1"/>
            <p:nvPr/>
          </p:nvSpPr>
          <p:spPr>
            <a:xfrm>
              <a:off x="3782609" y="5281268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/>
                <a:t>n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0FF806D-333A-D495-DA8C-9B114237C010}"/>
                </a:ext>
              </a:extLst>
            </p:cNvPr>
            <p:cNvSpPr txBox="1"/>
            <p:nvPr/>
          </p:nvSpPr>
          <p:spPr>
            <a:xfrm>
              <a:off x="4812169" y="5582773"/>
              <a:ext cx="46889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noProof="1">
                  <a:solidFill>
                    <a:srgbClr val="7030A0"/>
                  </a:solidFill>
                </a:rPr>
                <a:t>signed_dist</a:t>
              </a:r>
              <a:br>
                <a:rPr lang="ko-KR" noProof="1">
                  <a:solidFill>
                    <a:srgbClr val="7030A0"/>
                  </a:solidFill>
                </a:rPr>
              </a:br>
              <a:r>
                <a:rPr lang="ko-KR" noProof="1">
                  <a:solidFill>
                    <a:srgbClr val="7030A0"/>
                  </a:solidFill>
                </a:rPr>
                <a:t>(vector이므로, sign이 있는 displacement임)</a:t>
              </a: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8900F235-FCB6-E9A1-3B4C-7BE4DBED5DFB}"/>
              </a:ext>
            </a:extLst>
          </p:cNvPr>
          <p:cNvGrpSpPr/>
          <p:nvPr/>
        </p:nvGrpSpPr>
        <p:grpSpPr>
          <a:xfrm>
            <a:off x="5972228" y="103611"/>
            <a:ext cx="6125721" cy="1966788"/>
            <a:chOff x="5972228" y="103611"/>
            <a:chExt cx="6125721" cy="1966788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F8141F3E-4742-EF97-4779-3E9387FE0BFD}"/>
                </a:ext>
              </a:extLst>
            </p:cNvPr>
            <p:cNvGrpSpPr/>
            <p:nvPr/>
          </p:nvGrpSpPr>
          <p:grpSpPr>
            <a:xfrm>
              <a:off x="5972228" y="510634"/>
              <a:ext cx="6125721" cy="1559765"/>
              <a:chOff x="5888251" y="405166"/>
              <a:chExt cx="6125721" cy="1559765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64B102C-7CF3-603A-43E7-BABDDF07A632}"/>
                  </a:ext>
                </a:extLst>
              </p:cNvPr>
              <p:cNvSpPr txBox="1"/>
              <p:nvPr/>
            </p:nvSpPr>
            <p:spPr>
              <a:xfrm>
                <a:off x="5888251" y="405166"/>
                <a:ext cx="9249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>
                    <a:solidFill>
                      <a:srgbClr val="0070C0"/>
                    </a:solidFill>
                  </a:rPr>
                  <a:t>PathRC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1934B39-A737-8723-E734-97678FA7BCEF}"/>
                  </a:ext>
                </a:extLst>
              </p:cNvPr>
              <p:cNvSpPr txBox="1"/>
              <p:nvPr/>
            </p:nvSpPr>
            <p:spPr>
              <a:xfrm>
                <a:off x="5986740" y="986643"/>
                <a:ext cx="7280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>
                    <a:solidFill>
                      <a:srgbClr val="FF0000"/>
                    </a:solidFill>
                  </a:rPr>
                  <a:t>P1_rc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3B30122-3D8E-1BF1-9839-CEF38435C8AF}"/>
                  </a:ext>
                </a:extLst>
              </p:cNvPr>
              <p:cNvSpPr txBox="1"/>
              <p:nvPr/>
            </p:nvSpPr>
            <p:spPr>
              <a:xfrm>
                <a:off x="5986740" y="1595599"/>
                <a:ext cx="7280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>
                    <a:solidFill>
                      <a:srgbClr val="FF0000"/>
                    </a:solidFill>
                  </a:rPr>
                  <a:t>P2_rc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842D0C-3DFB-11E3-5029-5C43FA801AAB}"/>
                  </a:ext>
                </a:extLst>
              </p:cNvPr>
              <p:cNvSpPr txBox="1"/>
              <p:nvPr/>
            </p:nvSpPr>
            <p:spPr>
              <a:xfrm>
                <a:off x="9826618" y="986643"/>
                <a:ext cx="442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rel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E5FA6FD-64D0-C61D-14F0-B4B35CD15205}"/>
                  </a:ext>
                </a:extLst>
              </p:cNvPr>
              <p:cNvSpPr txBox="1"/>
              <p:nvPr/>
            </p:nvSpPr>
            <p:spPr>
              <a:xfrm>
                <a:off x="7457731" y="1595599"/>
                <a:ext cx="12603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Chord_vec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E3A17A6-D397-87A7-134A-60E5A049329D}"/>
                  </a:ext>
                </a:extLst>
              </p:cNvPr>
              <p:cNvSpPr txBox="1"/>
              <p:nvPr/>
            </p:nvSpPr>
            <p:spPr>
              <a:xfrm>
                <a:off x="9191227" y="1595599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t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FA35D93-755F-F3F1-D9CD-A27FF318DB7E}"/>
                  </a:ext>
                </a:extLst>
              </p:cNvPr>
              <p:cNvSpPr txBox="1"/>
              <p:nvPr/>
            </p:nvSpPr>
            <p:spPr>
              <a:xfrm>
                <a:off x="9929194" y="1595599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n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6835AC-5D40-991C-E26D-FF7899D4BADD}"/>
                  </a:ext>
                </a:extLst>
              </p:cNvPr>
              <p:cNvSpPr txBox="1"/>
              <p:nvPr/>
            </p:nvSpPr>
            <p:spPr>
              <a:xfrm>
                <a:off x="10639878" y="1226267"/>
                <a:ext cx="1374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Signed_dist</a:t>
                </a:r>
              </a:p>
            </p:txBody>
          </p:sp>
          <p:cxnSp>
            <p:nvCxnSpPr>
              <p:cNvPr id="54" name="직선 화살표 연결선 53">
                <a:extLst>
                  <a:ext uri="{FF2B5EF4-FFF2-40B4-BE49-F238E27FC236}">
                    <a16:creationId xmlns:a16="http://schemas.microsoft.com/office/drawing/2014/main" id="{EEB225B5-EFF7-CB57-A385-BCFDCE4C8982}"/>
                  </a:ext>
                </a:extLst>
              </p:cNvPr>
              <p:cNvCxnSpPr>
                <a:cxnSpLocks/>
                <a:stCxn id="46" idx="3"/>
                <a:endCxn id="49" idx="1"/>
              </p:cNvCxnSpPr>
              <p:nvPr/>
            </p:nvCxnSpPr>
            <p:spPr>
              <a:xfrm>
                <a:off x="6714760" y="1171309"/>
                <a:ext cx="742971" cy="60895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1D4B1303-3CBF-6590-E917-3711D583D2AE}"/>
                  </a:ext>
                </a:extLst>
              </p:cNvPr>
              <p:cNvCxnSpPr>
                <a:cxnSpLocks/>
                <a:stCxn id="47" idx="3"/>
                <a:endCxn id="49" idx="1"/>
              </p:cNvCxnSpPr>
              <p:nvPr/>
            </p:nvCxnSpPr>
            <p:spPr>
              <a:xfrm>
                <a:off x="6714760" y="1780265"/>
                <a:ext cx="74297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화살표 연결선 57">
                <a:extLst>
                  <a:ext uri="{FF2B5EF4-FFF2-40B4-BE49-F238E27FC236}">
                    <a16:creationId xmlns:a16="http://schemas.microsoft.com/office/drawing/2014/main" id="{3A7F173B-FACE-B782-34FA-B4E066AC3914}"/>
                  </a:ext>
                </a:extLst>
              </p:cNvPr>
              <p:cNvCxnSpPr>
                <a:cxnSpLocks/>
                <a:stCxn id="45" idx="3"/>
                <a:endCxn id="48" idx="1"/>
              </p:cNvCxnSpPr>
              <p:nvPr/>
            </p:nvCxnSpPr>
            <p:spPr>
              <a:xfrm>
                <a:off x="6813248" y="589832"/>
                <a:ext cx="3013370" cy="58147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화살표 연결선 59">
                <a:extLst>
                  <a:ext uri="{FF2B5EF4-FFF2-40B4-BE49-F238E27FC236}">
                    <a16:creationId xmlns:a16="http://schemas.microsoft.com/office/drawing/2014/main" id="{0AB6FA13-5010-9C17-D058-840BDBD301E9}"/>
                  </a:ext>
                </a:extLst>
              </p:cNvPr>
              <p:cNvCxnSpPr>
                <a:cxnSpLocks/>
                <a:stCxn id="46" idx="3"/>
                <a:endCxn id="48" idx="1"/>
              </p:cNvCxnSpPr>
              <p:nvPr/>
            </p:nvCxnSpPr>
            <p:spPr>
              <a:xfrm>
                <a:off x="6714760" y="1171309"/>
                <a:ext cx="311185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75B9EDC6-DCFB-C89C-363C-D3AA660D64BF}"/>
                  </a:ext>
                </a:extLst>
              </p:cNvPr>
              <p:cNvCxnSpPr>
                <a:cxnSpLocks/>
                <a:stCxn id="49" idx="3"/>
                <a:endCxn id="50" idx="1"/>
              </p:cNvCxnSpPr>
              <p:nvPr/>
            </p:nvCxnSpPr>
            <p:spPr>
              <a:xfrm>
                <a:off x="8718076" y="1780265"/>
                <a:ext cx="4731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화살표 연결선 63">
                <a:extLst>
                  <a:ext uri="{FF2B5EF4-FFF2-40B4-BE49-F238E27FC236}">
                    <a16:creationId xmlns:a16="http://schemas.microsoft.com/office/drawing/2014/main" id="{C4610167-F4A1-B293-A341-C804685D21DB}"/>
                  </a:ext>
                </a:extLst>
              </p:cNvPr>
              <p:cNvCxnSpPr>
                <a:cxnSpLocks/>
                <a:stCxn id="50" idx="3"/>
                <a:endCxn id="51" idx="1"/>
              </p:cNvCxnSpPr>
              <p:nvPr/>
            </p:nvCxnSpPr>
            <p:spPr>
              <a:xfrm>
                <a:off x="9456043" y="1780265"/>
                <a:ext cx="4731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FD303030-AD0F-57C5-3288-A2C02A66E409}"/>
                  </a:ext>
                </a:extLst>
              </p:cNvPr>
              <p:cNvCxnSpPr>
                <a:cxnSpLocks/>
                <a:stCxn id="48" idx="3"/>
                <a:endCxn id="52" idx="1"/>
              </p:cNvCxnSpPr>
              <p:nvPr/>
            </p:nvCxnSpPr>
            <p:spPr>
              <a:xfrm>
                <a:off x="10269303" y="1171309"/>
                <a:ext cx="370575" cy="23962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화살표 연결선 69">
                <a:extLst>
                  <a:ext uri="{FF2B5EF4-FFF2-40B4-BE49-F238E27FC236}">
                    <a16:creationId xmlns:a16="http://schemas.microsoft.com/office/drawing/2014/main" id="{7D9F6E07-01A4-3513-FAD8-5A1B33051F19}"/>
                  </a:ext>
                </a:extLst>
              </p:cNvPr>
              <p:cNvCxnSpPr>
                <a:cxnSpLocks/>
                <a:stCxn id="51" idx="3"/>
                <a:endCxn id="52" idx="1"/>
              </p:cNvCxnSpPr>
              <p:nvPr/>
            </p:nvCxnSpPr>
            <p:spPr>
              <a:xfrm flipV="1">
                <a:off x="10246910" y="1410933"/>
                <a:ext cx="392968" cy="36933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C695FBC-756C-9BCE-12DE-5C3ABBE16D5F}"/>
                </a:ext>
              </a:extLst>
            </p:cNvPr>
            <p:cNvSpPr txBox="1"/>
            <p:nvPr/>
          </p:nvSpPr>
          <p:spPr>
            <a:xfrm>
              <a:off x="8710290" y="103611"/>
              <a:ext cx="338765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sz="1200" noProof="1">
                  <a:solidFill>
                    <a:srgbClr val="0070C0"/>
                  </a:solidFill>
                </a:rPr>
                <a:t>파랑색: Error (Monte Carlo) 고려 안 하는 변수</a:t>
              </a:r>
            </a:p>
            <a:p>
              <a:r>
                <a:rPr lang="ko-KR" sz="1200" noProof="1">
                  <a:solidFill>
                    <a:srgbClr val="FF0000"/>
                  </a:solidFill>
                </a:rPr>
                <a:t>빨강색: Error (Monte Carlo) 고려하는 변수</a:t>
              </a:r>
            </a:p>
            <a:p>
              <a:r>
                <a:rPr lang="ko-KR" sz="1200" noProof="1"/>
                <a:t>검정 화살표: Error가 propagate하지 않는 과정</a:t>
              </a:r>
            </a:p>
            <a:p>
              <a:r>
                <a:rPr lang="ko-KR" sz="1200" noProof="1">
                  <a:solidFill>
                    <a:srgbClr val="FF0000"/>
                  </a:solidFill>
                </a:rPr>
                <a:t>빨강 화살표: Error가 propagate 하는 과정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0343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6C4B094-C42D-CDB4-A9C9-50C37A1A1951}"/>
              </a:ext>
            </a:extLst>
          </p:cNvPr>
          <p:cNvGrpSpPr/>
          <p:nvPr/>
        </p:nvGrpSpPr>
        <p:grpSpPr>
          <a:xfrm>
            <a:off x="5972228" y="103611"/>
            <a:ext cx="6125721" cy="1966788"/>
            <a:chOff x="5972228" y="103611"/>
            <a:chExt cx="6125721" cy="1966788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4C58745C-1B7E-0293-DF0B-C6987049A902}"/>
                </a:ext>
              </a:extLst>
            </p:cNvPr>
            <p:cNvGrpSpPr/>
            <p:nvPr/>
          </p:nvGrpSpPr>
          <p:grpSpPr>
            <a:xfrm>
              <a:off x="5972228" y="510634"/>
              <a:ext cx="6125721" cy="1559765"/>
              <a:chOff x="5888251" y="405166"/>
              <a:chExt cx="6125721" cy="1559765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B75836-FE06-C96B-CBA0-4C6419F2159B}"/>
                  </a:ext>
                </a:extLst>
              </p:cNvPr>
              <p:cNvSpPr txBox="1"/>
              <p:nvPr/>
            </p:nvSpPr>
            <p:spPr>
              <a:xfrm>
                <a:off x="5888251" y="405166"/>
                <a:ext cx="9249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>
                    <a:solidFill>
                      <a:srgbClr val="0070C0"/>
                    </a:solidFill>
                  </a:rPr>
                  <a:t>PathRC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B692AF-B7ED-2029-181E-9F91C8B22CA7}"/>
                  </a:ext>
                </a:extLst>
              </p:cNvPr>
              <p:cNvSpPr txBox="1"/>
              <p:nvPr/>
            </p:nvSpPr>
            <p:spPr>
              <a:xfrm>
                <a:off x="5986740" y="986643"/>
                <a:ext cx="7280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>
                    <a:solidFill>
                      <a:srgbClr val="FF0000"/>
                    </a:solidFill>
                  </a:rPr>
                  <a:t>P1_rc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7C647F-91C4-D453-48DC-94901FD94BD8}"/>
                  </a:ext>
                </a:extLst>
              </p:cNvPr>
              <p:cNvSpPr txBox="1"/>
              <p:nvPr/>
            </p:nvSpPr>
            <p:spPr>
              <a:xfrm>
                <a:off x="5986740" y="1595599"/>
                <a:ext cx="7280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>
                    <a:solidFill>
                      <a:srgbClr val="FF0000"/>
                    </a:solidFill>
                  </a:rPr>
                  <a:t>P2_rc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CC5595-8E66-E704-BB34-474E4FBC1534}"/>
                  </a:ext>
                </a:extLst>
              </p:cNvPr>
              <p:cNvSpPr txBox="1"/>
              <p:nvPr/>
            </p:nvSpPr>
            <p:spPr>
              <a:xfrm>
                <a:off x="9826618" y="986643"/>
                <a:ext cx="442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rel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CE8C9F-4C4C-B417-532D-CFF20943999A}"/>
                  </a:ext>
                </a:extLst>
              </p:cNvPr>
              <p:cNvSpPr txBox="1"/>
              <p:nvPr/>
            </p:nvSpPr>
            <p:spPr>
              <a:xfrm>
                <a:off x="7457731" y="1595599"/>
                <a:ext cx="12603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Chord_vec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D5B7C8-AD18-4D5F-3A8C-55A6F6E99534}"/>
                  </a:ext>
                </a:extLst>
              </p:cNvPr>
              <p:cNvSpPr txBox="1"/>
              <p:nvPr/>
            </p:nvSpPr>
            <p:spPr>
              <a:xfrm>
                <a:off x="9191227" y="1595599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t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13B880-5AD3-816D-FC1B-04CE66B2F447}"/>
                  </a:ext>
                </a:extLst>
              </p:cNvPr>
              <p:cNvSpPr txBox="1"/>
              <p:nvPr/>
            </p:nvSpPr>
            <p:spPr>
              <a:xfrm>
                <a:off x="9929194" y="1595599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n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E81793-CB3B-9BC2-63F3-EF1F79103AA4}"/>
                  </a:ext>
                </a:extLst>
              </p:cNvPr>
              <p:cNvSpPr txBox="1"/>
              <p:nvPr/>
            </p:nvSpPr>
            <p:spPr>
              <a:xfrm>
                <a:off x="10639878" y="1226267"/>
                <a:ext cx="1374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noProof="1"/>
                  <a:t>Signed_dist</a:t>
                </a:r>
              </a:p>
            </p:txBody>
          </p: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BB36F01F-F436-242A-CB2C-EF272387F310}"/>
                  </a:ext>
                </a:extLst>
              </p:cNvPr>
              <p:cNvCxnSpPr>
                <a:cxnSpLocks/>
                <a:stCxn id="6" idx="3"/>
                <a:endCxn id="9" idx="1"/>
              </p:cNvCxnSpPr>
              <p:nvPr/>
            </p:nvCxnSpPr>
            <p:spPr>
              <a:xfrm>
                <a:off x="6714760" y="1171309"/>
                <a:ext cx="742971" cy="60895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A7B9F548-F35E-66B5-FCAC-534EF4E41A1A}"/>
                  </a:ext>
                </a:extLst>
              </p:cNvPr>
              <p:cNvCxnSpPr>
                <a:cxnSpLocks/>
                <a:stCxn id="7" idx="3"/>
                <a:endCxn id="9" idx="1"/>
              </p:cNvCxnSpPr>
              <p:nvPr/>
            </p:nvCxnSpPr>
            <p:spPr>
              <a:xfrm>
                <a:off x="6714760" y="1780265"/>
                <a:ext cx="74297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F9A6F5A0-C9B5-11C2-D30A-4564D6536C9C}"/>
                  </a:ext>
                </a:extLst>
              </p:cNvPr>
              <p:cNvCxnSpPr>
                <a:cxnSpLocks/>
                <a:stCxn id="5" idx="3"/>
                <a:endCxn id="8" idx="1"/>
              </p:cNvCxnSpPr>
              <p:nvPr/>
            </p:nvCxnSpPr>
            <p:spPr>
              <a:xfrm>
                <a:off x="6813248" y="589832"/>
                <a:ext cx="3013370" cy="58147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999CD4DA-66F6-3258-5C47-E2EB5737F53A}"/>
                  </a:ext>
                </a:extLst>
              </p:cNvPr>
              <p:cNvCxnSpPr>
                <a:cxnSpLocks/>
                <a:stCxn id="6" idx="3"/>
                <a:endCxn id="8" idx="1"/>
              </p:cNvCxnSpPr>
              <p:nvPr/>
            </p:nvCxnSpPr>
            <p:spPr>
              <a:xfrm>
                <a:off x="6714760" y="1171309"/>
                <a:ext cx="311185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화살표 연결선 16">
                <a:extLst>
                  <a:ext uri="{FF2B5EF4-FFF2-40B4-BE49-F238E27FC236}">
                    <a16:creationId xmlns:a16="http://schemas.microsoft.com/office/drawing/2014/main" id="{84012FBA-DAF7-3DA5-E773-6C9B5F8F7F2D}"/>
                  </a:ext>
                </a:extLst>
              </p:cNvPr>
              <p:cNvCxnSpPr>
                <a:cxnSpLocks/>
                <a:stCxn id="9" idx="3"/>
                <a:endCxn id="10" idx="1"/>
              </p:cNvCxnSpPr>
              <p:nvPr/>
            </p:nvCxnSpPr>
            <p:spPr>
              <a:xfrm>
                <a:off x="8718076" y="1780265"/>
                <a:ext cx="4731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ABA73437-BC0D-A047-E226-92AA250AE719}"/>
                  </a:ext>
                </a:extLst>
              </p:cNvPr>
              <p:cNvCxnSpPr>
                <a:cxnSpLocks/>
                <a:stCxn id="10" idx="3"/>
                <a:endCxn id="11" idx="1"/>
              </p:cNvCxnSpPr>
              <p:nvPr/>
            </p:nvCxnSpPr>
            <p:spPr>
              <a:xfrm>
                <a:off x="9456043" y="1780265"/>
                <a:ext cx="47315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EDDF18E4-5640-D3B2-58C4-C921C6ACB3F8}"/>
                  </a:ext>
                </a:extLst>
              </p:cNvPr>
              <p:cNvCxnSpPr>
                <a:cxnSpLocks/>
                <a:stCxn id="8" idx="3"/>
                <a:endCxn id="12" idx="1"/>
              </p:cNvCxnSpPr>
              <p:nvPr/>
            </p:nvCxnSpPr>
            <p:spPr>
              <a:xfrm>
                <a:off x="10269303" y="1171309"/>
                <a:ext cx="370575" cy="23962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FD919ED7-6C65-2092-C760-47AB996234B1}"/>
                  </a:ext>
                </a:extLst>
              </p:cNvPr>
              <p:cNvCxnSpPr>
                <a:cxnSpLocks/>
                <a:stCxn id="11" idx="3"/>
                <a:endCxn id="12" idx="1"/>
              </p:cNvCxnSpPr>
              <p:nvPr/>
            </p:nvCxnSpPr>
            <p:spPr>
              <a:xfrm flipV="1">
                <a:off x="10246910" y="1410933"/>
                <a:ext cx="392968" cy="36933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79F4B3-8694-977F-4100-6742F5080A80}"/>
                </a:ext>
              </a:extLst>
            </p:cNvPr>
            <p:cNvSpPr txBox="1"/>
            <p:nvPr/>
          </p:nvSpPr>
          <p:spPr>
            <a:xfrm>
              <a:off x="8710290" y="103611"/>
              <a:ext cx="338765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sz="1200" noProof="1">
                  <a:solidFill>
                    <a:srgbClr val="0070C0"/>
                  </a:solidFill>
                </a:rPr>
                <a:t>파랑색: Error (Monte Carlo) 고려 안 하는 변수</a:t>
              </a:r>
            </a:p>
            <a:p>
              <a:r>
                <a:rPr lang="ko-KR" sz="1200" noProof="1">
                  <a:solidFill>
                    <a:srgbClr val="FF0000"/>
                  </a:solidFill>
                </a:rPr>
                <a:t>빨강색: Error (Monte Carlo) 고려하는 변수</a:t>
              </a:r>
            </a:p>
            <a:p>
              <a:r>
                <a:rPr lang="ko-KR" sz="1200" noProof="1"/>
                <a:t>검정 화살표: Error가 propagate하지 않는 과정</a:t>
              </a:r>
            </a:p>
            <a:p>
              <a:r>
                <a:rPr lang="ko-KR" sz="1200" noProof="1">
                  <a:solidFill>
                    <a:srgbClr val="FF0000"/>
                  </a:solidFill>
                </a:rPr>
                <a:t>빨강 화살표: Error가 propagate 하는 과정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A3BBBDE-6695-9ADB-CF02-F34AEF7F0CA4}"/>
              </a:ext>
            </a:extLst>
          </p:cNvPr>
          <p:cNvSpPr txBox="1"/>
          <p:nvPr/>
        </p:nvSpPr>
        <p:spPr>
          <a:xfrm>
            <a:off x="262293" y="390601"/>
            <a:ext cx="4328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noProof="1"/>
              <a:t>P1_rc, P2_rc가 바뀔 때 나타나는 효과</a:t>
            </a: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8553DC6F-81AB-9487-EA0C-CDDB8A2EC7E7}"/>
              </a:ext>
            </a:extLst>
          </p:cNvPr>
          <p:cNvSpPr/>
          <p:nvPr/>
        </p:nvSpPr>
        <p:spPr>
          <a:xfrm>
            <a:off x="987510" y="1245854"/>
            <a:ext cx="2402267" cy="930247"/>
          </a:xfrm>
          <a:custGeom>
            <a:avLst/>
            <a:gdLst>
              <a:gd name="csX0" fmla="*/ 0 w 4363350"/>
              <a:gd name="csY0" fmla="*/ 238539 h 1689652"/>
              <a:gd name="csX1" fmla="*/ 477079 w 4363350"/>
              <a:gd name="csY1" fmla="*/ 59635 h 1689652"/>
              <a:gd name="csX2" fmla="*/ 1182757 w 4363350"/>
              <a:gd name="csY2" fmla="*/ 0 h 1689652"/>
              <a:gd name="csX3" fmla="*/ 1888435 w 4363350"/>
              <a:gd name="csY3" fmla="*/ 129209 h 1689652"/>
              <a:gd name="csX4" fmla="*/ 1967948 w 4363350"/>
              <a:gd name="csY4" fmla="*/ 208722 h 1689652"/>
              <a:gd name="csX5" fmla="*/ 2057400 w 4363350"/>
              <a:gd name="csY5" fmla="*/ 318052 h 1689652"/>
              <a:gd name="csX6" fmla="*/ 2156792 w 4363350"/>
              <a:gd name="csY6" fmla="*/ 487018 h 1689652"/>
              <a:gd name="csX7" fmla="*/ 2335696 w 4363350"/>
              <a:gd name="csY7" fmla="*/ 616226 h 1689652"/>
              <a:gd name="csX8" fmla="*/ 2792896 w 4363350"/>
              <a:gd name="csY8" fmla="*/ 655983 h 1689652"/>
              <a:gd name="csX9" fmla="*/ 3269974 w 4363350"/>
              <a:gd name="csY9" fmla="*/ 735496 h 1689652"/>
              <a:gd name="csX10" fmla="*/ 3448879 w 4363350"/>
              <a:gd name="csY10" fmla="*/ 854765 h 1689652"/>
              <a:gd name="csX11" fmla="*/ 3607905 w 4363350"/>
              <a:gd name="csY11" fmla="*/ 1013792 h 1689652"/>
              <a:gd name="csX12" fmla="*/ 3776870 w 4363350"/>
              <a:gd name="csY12" fmla="*/ 1242392 h 1689652"/>
              <a:gd name="csX13" fmla="*/ 3896140 w 4363350"/>
              <a:gd name="csY13" fmla="*/ 1341783 h 1689652"/>
              <a:gd name="csX14" fmla="*/ 4234070 w 4363350"/>
              <a:gd name="csY14" fmla="*/ 1520687 h 1689652"/>
              <a:gd name="csX15" fmla="*/ 4293705 w 4363350"/>
              <a:gd name="csY15" fmla="*/ 1560444 h 1689652"/>
              <a:gd name="csX16" fmla="*/ 4333461 w 4363350"/>
              <a:gd name="csY16" fmla="*/ 1630018 h 1689652"/>
              <a:gd name="csX17" fmla="*/ 4343400 w 4363350"/>
              <a:gd name="csY17" fmla="*/ 1659835 h 1689652"/>
              <a:gd name="csX18" fmla="*/ 4363279 w 4363350"/>
              <a:gd name="csY18" fmla="*/ 1689652 h 1689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363350" h="1689652">
                <a:moveTo>
                  <a:pt x="0" y="238539"/>
                </a:moveTo>
                <a:cubicBezTo>
                  <a:pt x="164577" y="128823"/>
                  <a:pt x="141953" y="136351"/>
                  <a:pt x="477079" y="59635"/>
                </a:cubicBezTo>
                <a:cubicBezTo>
                  <a:pt x="706448" y="7129"/>
                  <a:pt x="949013" y="7791"/>
                  <a:pt x="1182757" y="0"/>
                </a:cubicBezTo>
                <a:cubicBezTo>
                  <a:pt x="1411597" y="26005"/>
                  <a:pt x="1670937" y="29781"/>
                  <a:pt x="1888435" y="129209"/>
                </a:cubicBezTo>
                <a:cubicBezTo>
                  <a:pt x="1922525" y="144793"/>
                  <a:pt x="1942955" y="180788"/>
                  <a:pt x="1967948" y="208722"/>
                </a:cubicBezTo>
                <a:cubicBezTo>
                  <a:pt x="1999345" y="243813"/>
                  <a:pt x="2030961" y="279089"/>
                  <a:pt x="2057400" y="318052"/>
                </a:cubicBezTo>
                <a:cubicBezTo>
                  <a:pt x="2094091" y="372122"/>
                  <a:pt x="2116951" y="435225"/>
                  <a:pt x="2156792" y="487018"/>
                </a:cubicBezTo>
                <a:cubicBezTo>
                  <a:pt x="2187573" y="527034"/>
                  <a:pt x="2276573" y="602582"/>
                  <a:pt x="2335696" y="616226"/>
                </a:cubicBezTo>
                <a:cubicBezTo>
                  <a:pt x="2405485" y="632331"/>
                  <a:pt x="2767147" y="653599"/>
                  <a:pt x="2792896" y="655983"/>
                </a:cubicBezTo>
                <a:cubicBezTo>
                  <a:pt x="3069271" y="681573"/>
                  <a:pt x="3015287" y="677612"/>
                  <a:pt x="3269974" y="735496"/>
                </a:cubicBezTo>
                <a:cubicBezTo>
                  <a:pt x="3372900" y="791637"/>
                  <a:pt x="3372229" y="781448"/>
                  <a:pt x="3448879" y="854765"/>
                </a:cubicBezTo>
                <a:cubicBezTo>
                  <a:pt x="3503052" y="906583"/>
                  <a:pt x="3568615" y="949947"/>
                  <a:pt x="3607905" y="1013792"/>
                </a:cubicBezTo>
                <a:cubicBezTo>
                  <a:pt x="3677768" y="1127318"/>
                  <a:pt x="3682683" y="1152690"/>
                  <a:pt x="3776870" y="1242392"/>
                </a:cubicBezTo>
                <a:cubicBezTo>
                  <a:pt x="3814345" y="1278083"/>
                  <a:pt x="3853910" y="1311870"/>
                  <a:pt x="3896140" y="1341783"/>
                </a:cubicBezTo>
                <a:cubicBezTo>
                  <a:pt x="3978828" y="1400354"/>
                  <a:pt x="4163635" y="1482954"/>
                  <a:pt x="4234070" y="1520687"/>
                </a:cubicBezTo>
                <a:cubicBezTo>
                  <a:pt x="4255129" y="1531969"/>
                  <a:pt x="4273827" y="1547192"/>
                  <a:pt x="4293705" y="1560444"/>
                </a:cubicBezTo>
                <a:cubicBezTo>
                  <a:pt x="4306957" y="1583635"/>
                  <a:pt x="4321516" y="1606127"/>
                  <a:pt x="4333461" y="1630018"/>
                </a:cubicBezTo>
                <a:cubicBezTo>
                  <a:pt x="4338146" y="1639389"/>
                  <a:pt x="4338010" y="1650851"/>
                  <a:pt x="4343400" y="1659835"/>
                </a:cubicBezTo>
                <a:cubicBezTo>
                  <a:pt x="4365622" y="1696870"/>
                  <a:pt x="4363279" y="1665105"/>
                  <a:pt x="4363279" y="1689652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6A10138-B519-F464-86B5-E43BC665B697}"/>
              </a:ext>
            </a:extLst>
          </p:cNvPr>
          <p:cNvSpPr/>
          <p:nvPr/>
        </p:nvSpPr>
        <p:spPr>
          <a:xfrm>
            <a:off x="997852" y="1219815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14617EE-365B-559A-C6D9-5E2795C701ED}"/>
              </a:ext>
            </a:extLst>
          </p:cNvPr>
          <p:cNvSpPr/>
          <p:nvPr/>
        </p:nvSpPr>
        <p:spPr>
          <a:xfrm>
            <a:off x="3494927" y="1857850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D6CB841-94CE-DE1C-363A-740DD027DE91}"/>
              </a:ext>
            </a:extLst>
          </p:cNvPr>
          <p:cNvSpPr/>
          <p:nvPr/>
        </p:nvSpPr>
        <p:spPr>
          <a:xfrm>
            <a:off x="1034023" y="3172013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B48D3E-9CD3-F85D-F46E-6D37BF968FD3}"/>
              </a:ext>
            </a:extLst>
          </p:cNvPr>
          <p:cNvSpPr txBox="1"/>
          <p:nvPr/>
        </p:nvSpPr>
        <p:spPr>
          <a:xfrm>
            <a:off x="1127048" y="3265038"/>
            <a:ext cx="5806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Origin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B8EC256-E341-F9F8-FDD1-419BF23DE9B6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92983" y="1448320"/>
            <a:ext cx="87553" cy="172369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E69A73E-481F-9F6D-E506-D1FE3E4F4AD9}"/>
              </a:ext>
            </a:extLst>
          </p:cNvPr>
          <p:cNvSpPr txBox="1"/>
          <p:nvPr/>
        </p:nvSpPr>
        <p:spPr>
          <a:xfrm>
            <a:off x="2381544" y="1351687"/>
            <a:ext cx="11176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PathRC의 곡선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AD1A4F-8752-9792-3BCB-12A05B8AFFB7}"/>
              </a:ext>
            </a:extLst>
          </p:cNvPr>
          <p:cNvSpPr txBox="1"/>
          <p:nvPr/>
        </p:nvSpPr>
        <p:spPr>
          <a:xfrm>
            <a:off x="311607" y="1950875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P1_rc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6341EA-D682-CC15-0615-D8F958F6AC0B}"/>
              </a:ext>
            </a:extLst>
          </p:cNvPr>
          <p:cNvSpPr txBox="1"/>
          <p:nvPr/>
        </p:nvSpPr>
        <p:spPr>
          <a:xfrm>
            <a:off x="3235882" y="2285542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P2_rc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68C0C06-A1F2-03EB-1027-C21729BE9DB5}"/>
              </a:ext>
            </a:extLst>
          </p:cNvPr>
          <p:cNvCxnSpPr>
            <a:cxnSpLocks/>
          </p:cNvCxnSpPr>
          <p:nvPr/>
        </p:nvCxnSpPr>
        <p:spPr>
          <a:xfrm flipV="1">
            <a:off x="2267738" y="1313766"/>
            <a:ext cx="41384" cy="22059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A1D4B94-6C29-D99E-8975-9A4567140115}"/>
              </a:ext>
            </a:extLst>
          </p:cNvPr>
          <p:cNvSpPr txBox="1"/>
          <p:nvPr/>
        </p:nvSpPr>
        <p:spPr>
          <a:xfrm>
            <a:off x="2321535" y="1634369"/>
            <a:ext cx="10935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n (unit vector)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69978B-B39D-B151-E98A-0F3771E8261C}"/>
              </a:ext>
            </a:extLst>
          </p:cNvPr>
          <p:cNvSpPr txBox="1"/>
          <p:nvPr/>
        </p:nvSpPr>
        <p:spPr>
          <a:xfrm>
            <a:off x="1685606" y="1634369"/>
            <a:ext cx="2327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t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C2B3FE6-3445-9B44-BF94-28DAC5053607}"/>
              </a:ext>
            </a:extLst>
          </p:cNvPr>
          <p:cNvCxnSpPr>
            <a:cxnSpLocks/>
          </p:cNvCxnSpPr>
          <p:nvPr/>
        </p:nvCxnSpPr>
        <p:spPr>
          <a:xfrm flipV="1">
            <a:off x="1088059" y="1276862"/>
            <a:ext cx="283178" cy="190883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D6550265-FF5C-68F5-B6F2-BE03F5FFEFD3}"/>
              </a:ext>
            </a:extLst>
          </p:cNvPr>
          <p:cNvSpPr/>
          <p:nvPr/>
        </p:nvSpPr>
        <p:spPr>
          <a:xfrm>
            <a:off x="1318113" y="1207807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F4F0FA-446A-8429-B025-E13423701F29}"/>
              </a:ext>
            </a:extLst>
          </p:cNvPr>
          <p:cNvSpPr txBox="1"/>
          <p:nvPr/>
        </p:nvSpPr>
        <p:spPr>
          <a:xfrm>
            <a:off x="1243099" y="2202113"/>
            <a:ext cx="6495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pathRC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397372B-5DED-85B2-43D8-C08FCF85EFB6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1034023" y="1221430"/>
            <a:ext cx="297713" cy="1983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9C58F86-DED7-3EBF-2718-3C5301D39C1E}"/>
              </a:ext>
            </a:extLst>
          </p:cNvPr>
          <p:cNvSpPr txBox="1"/>
          <p:nvPr/>
        </p:nvSpPr>
        <p:spPr>
          <a:xfrm>
            <a:off x="888437" y="864269"/>
            <a:ext cx="3449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rel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8F94EC7-F653-4D29-1A7E-8C5F68300620}"/>
              </a:ext>
            </a:extLst>
          </p:cNvPr>
          <p:cNvCxnSpPr>
            <a:cxnSpLocks/>
          </p:cNvCxnSpPr>
          <p:nvPr/>
        </p:nvCxnSpPr>
        <p:spPr>
          <a:xfrm flipH="1" flipV="1">
            <a:off x="1012489" y="1245853"/>
            <a:ext cx="2535100" cy="63370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D309549-D00B-E8B5-ABDB-9DCB0B3F2D45}"/>
              </a:ext>
            </a:extLst>
          </p:cNvPr>
          <p:cNvSpPr txBox="1"/>
          <p:nvPr/>
        </p:nvSpPr>
        <p:spPr>
          <a:xfrm>
            <a:off x="1979179" y="2828836"/>
            <a:ext cx="303640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sz="1100" noProof="1"/>
              <a:t>n이 바뀐다</a:t>
            </a:r>
          </a:p>
          <a:p>
            <a:pPr marL="342900" indent="-342900">
              <a:buFont typeface="+mj-lt"/>
              <a:buAutoNum type="arabicPeriod"/>
            </a:pPr>
            <a:r>
              <a:rPr lang="ko-KR" sz="1100" noProof="1"/>
              <a:t>따라서 rel이 정사영되는 양상이 바뀌고,</a:t>
            </a:r>
          </a:p>
          <a:p>
            <a:pPr marL="342900" indent="-342900">
              <a:buFont typeface="+mj-lt"/>
              <a:buAutoNum type="arabicPeriod"/>
            </a:pPr>
            <a:r>
              <a:rPr lang="ko-KR" sz="1100" noProof="1"/>
              <a:t>따라서 signed_dist가 바뀐다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4524B6-F581-B840-2C25-9BCF2A03EE1B}"/>
              </a:ext>
            </a:extLst>
          </p:cNvPr>
          <p:cNvSpPr txBox="1"/>
          <p:nvPr/>
        </p:nvSpPr>
        <p:spPr>
          <a:xfrm>
            <a:off x="262293" y="3818314"/>
            <a:ext cx="365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noProof="1"/>
              <a:t>P1_rc이 바뀔 때 나타나는 효과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CC641EDA-1B7E-1746-1B5E-7C5B6D91CBEE}"/>
              </a:ext>
            </a:extLst>
          </p:cNvPr>
          <p:cNvSpPr/>
          <p:nvPr/>
        </p:nvSpPr>
        <p:spPr>
          <a:xfrm>
            <a:off x="987510" y="4629218"/>
            <a:ext cx="2402267" cy="930247"/>
          </a:xfrm>
          <a:custGeom>
            <a:avLst/>
            <a:gdLst>
              <a:gd name="csX0" fmla="*/ 0 w 4363350"/>
              <a:gd name="csY0" fmla="*/ 238539 h 1689652"/>
              <a:gd name="csX1" fmla="*/ 477079 w 4363350"/>
              <a:gd name="csY1" fmla="*/ 59635 h 1689652"/>
              <a:gd name="csX2" fmla="*/ 1182757 w 4363350"/>
              <a:gd name="csY2" fmla="*/ 0 h 1689652"/>
              <a:gd name="csX3" fmla="*/ 1888435 w 4363350"/>
              <a:gd name="csY3" fmla="*/ 129209 h 1689652"/>
              <a:gd name="csX4" fmla="*/ 1967948 w 4363350"/>
              <a:gd name="csY4" fmla="*/ 208722 h 1689652"/>
              <a:gd name="csX5" fmla="*/ 2057400 w 4363350"/>
              <a:gd name="csY5" fmla="*/ 318052 h 1689652"/>
              <a:gd name="csX6" fmla="*/ 2156792 w 4363350"/>
              <a:gd name="csY6" fmla="*/ 487018 h 1689652"/>
              <a:gd name="csX7" fmla="*/ 2335696 w 4363350"/>
              <a:gd name="csY7" fmla="*/ 616226 h 1689652"/>
              <a:gd name="csX8" fmla="*/ 2792896 w 4363350"/>
              <a:gd name="csY8" fmla="*/ 655983 h 1689652"/>
              <a:gd name="csX9" fmla="*/ 3269974 w 4363350"/>
              <a:gd name="csY9" fmla="*/ 735496 h 1689652"/>
              <a:gd name="csX10" fmla="*/ 3448879 w 4363350"/>
              <a:gd name="csY10" fmla="*/ 854765 h 1689652"/>
              <a:gd name="csX11" fmla="*/ 3607905 w 4363350"/>
              <a:gd name="csY11" fmla="*/ 1013792 h 1689652"/>
              <a:gd name="csX12" fmla="*/ 3776870 w 4363350"/>
              <a:gd name="csY12" fmla="*/ 1242392 h 1689652"/>
              <a:gd name="csX13" fmla="*/ 3896140 w 4363350"/>
              <a:gd name="csY13" fmla="*/ 1341783 h 1689652"/>
              <a:gd name="csX14" fmla="*/ 4234070 w 4363350"/>
              <a:gd name="csY14" fmla="*/ 1520687 h 1689652"/>
              <a:gd name="csX15" fmla="*/ 4293705 w 4363350"/>
              <a:gd name="csY15" fmla="*/ 1560444 h 1689652"/>
              <a:gd name="csX16" fmla="*/ 4333461 w 4363350"/>
              <a:gd name="csY16" fmla="*/ 1630018 h 1689652"/>
              <a:gd name="csX17" fmla="*/ 4343400 w 4363350"/>
              <a:gd name="csY17" fmla="*/ 1659835 h 1689652"/>
              <a:gd name="csX18" fmla="*/ 4363279 w 4363350"/>
              <a:gd name="csY18" fmla="*/ 1689652 h 1689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363350" h="1689652">
                <a:moveTo>
                  <a:pt x="0" y="238539"/>
                </a:moveTo>
                <a:cubicBezTo>
                  <a:pt x="164577" y="128823"/>
                  <a:pt x="141953" y="136351"/>
                  <a:pt x="477079" y="59635"/>
                </a:cubicBezTo>
                <a:cubicBezTo>
                  <a:pt x="706448" y="7129"/>
                  <a:pt x="949013" y="7791"/>
                  <a:pt x="1182757" y="0"/>
                </a:cubicBezTo>
                <a:cubicBezTo>
                  <a:pt x="1411597" y="26005"/>
                  <a:pt x="1670937" y="29781"/>
                  <a:pt x="1888435" y="129209"/>
                </a:cubicBezTo>
                <a:cubicBezTo>
                  <a:pt x="1922525" y="144793"/>
                  <a:pt x="1942955" y="180788"/>
                  <a:pt x="1967948" y="208722"/>
                </a:cubicBezTo>
                <a:cubicBezTo>
                  <a:pt x="1999345" y="243813"/>
                  <a:pt x="2030961" y="279089"/>
                  <a:pt x="2057400" y="318052"/>
                </a:cubicBezTo>
                <a:cubicBezTo>
                  <a:pt x="2094091" y="372122"/>
                  <a:pt x="2116951" y="435225"/>
                  <a:pt x="2156792" y="487018"/>
                </a:cubicBezTo>
                <a:cubicBezTo>
                  <a:pt x="2187573" y="527034"/>
                  <a:pt x="2276573" y="602582"/>
                  <a:pt x="2335696" y="616226"/>
                </a:cubicBezTo>
                <a:cubicBezTo>
                  <a:pt x="2405485" y="632331"/>
                  <a:pt x="2767147" y="653599"/>
                  <a:pt x="2792896" y="655983"/>
                </a:cubicBezTo>
                <a:cubicBezTo>
                  <a:pt x="3069271" y="681573"/>
                  <a:pt x="3015287" y="677612"/>
                  <a:pt x="3269974" y="735496"/>
                </a:cubicBezTo>
                <a:cubicBezTo>
                  <a:pt x="3372900" y="791637"/>
                  <a:pt x="3372229" y="781448"/>
                  <a:pt x="3448879" y="854765"/>
                </a:cubicBezTo>
                <a:cubicBezTo>
                  <a:pt x="3503052" y="906583"/>
                  <a:pt x="3568615" y="949947"/>
                  <a:pt x="3607905" y="1013792"/>
                </a:cubicBezTo>
                <a:cubicBezTo>
                  <a:pt x="3677768" y="1127318"/>
                  <a:pt x="3682683" y="1152690"/>
                  <a:pt x="3776870" y="1242392"/>
                </a:cubicBezTo>
                <a:cubicBezTo>
                  <a:pt x="3814345" y="1278083"/>
                  <a:pt x="3853910" y="1311870"/>
                  <a:pt x="3896140" y="1341783"/>
                </a:cubicBezTo>
                <a:cubicBezTo>
                  <a:pt x="3978828" y="1400354"/>
                  <a:pt x="4163635" y="1482954"/>
                  <a:pt x="4234070" y="1520687"/>
                </a:cubicBezTo>
                <a:cubicBezTo>
                  <a:pt x="4255129" y="1531969"/>
                  <a:pt x="4273827" y="1547192"/>
                  <a:pt x="4293705" y="1560444"/>
                </a:cubicBezTo>
                <a:cubicBezTo>
                  <a:pt x="4306957" y="1583635"/>
                  <a:pt x="4321516" y="1606127"/>
                  <a:pt x="4333461" y="1630018"/>
                </a:cubicBezTo>
                <a:cubicBezTo>
                  <a:pt x="4338146" y="1639389"/>
                  <a:pt x="4338010" y="1650851"/>
                  <a:pt x="4343400" y="1659835"/>
                </a:cubicBezTo>
                <a:cubicBezTo>
                  <a:pt x="4365622" y="1696870"/>
                  <a:pt x="4363279" y="1665105"/>
                  <a:pt x="4363279" y="1689652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45525374-FD74-5F70-9E77-74E83819FD8C}"/>
              </a:ext>
            </a:extLst>
          </p:cNvPr>
          <p:cNvSpPr/>
          <p:nvPr/>
        </p:nvSpPr>
        <p:spPr>
          <a:xfrm>
            <a:off x="997852" y="4603179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75FA9824-7048-B537-CD2F-ADF32D0B5593}"/>
              </a:ext>
            </a:extLst>
          </p:cNvPr>
          <p:cNvSpPr/>
          <p:nvPr/>
        </p:nvSpPr>
        <p:spPr>
          <a:xfrm>
            <a:off x="3363215" y="5506313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5548DE1-071B-826C-EAEF-90FEE7254CC5}"/>
              </a:ext>
            </a:extLst>
          </p:cNvPr>
          <p:cNvSpPr/>
          <p:nvPr/>
        </p:nvSpPr>
        <p:spPr>
          <a:xfrm>
            <a:off x="1034023" y="6555377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02FA95-F39E-B26F-9512-BFFC36D159FC}"/>
              </a:ext>
            </a:extLst>
          </p:cNvPr>
          <p:cNvSpPr txBox="1"/>
          <p:nvPr/>
        </p:nvSpPr>
        <p:spPr>
          <a:xfrm>
            <a:off x="1127048" y="6454224"/>
            <a:ext cx="5806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Origin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2C8FBD4-4C1E-38FE-DB1D-16329E03734E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992983" y="4831684"/>
            <a:ext cx="87553" cy="172369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52237F8-3A85-092F-DB7F-8379EBA92B21}"/>
              </a:ext>
            </a:extLst>
          </p:cNvPr>
          <p:cNvSpPr txBox="1"/>
          <p:nvPr/>
        </p:nvSpPr>
        <p:spPr>
          <a:xfrm>
            <a:off x="2381544" y="4735051"/>
            <a:ext cx="11176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PathRC의 곡선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7681C7-B74B-FBE1-EDB8-23ADB9940EBF}"/>
              </a:ext>
            </a:extLst>
          </p:cNvPr>
          <p:cNvSpPr txBox="1"/>
          <p:nvPr/>
        </p:nvSpPr>
        <p:spPr>
          <a:xfrm>
            <a:off x="311607" y="5334239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P1_rc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4CB428-33D8-2A84-5C58-945195E8BF0E}"/>
              </a:ext>
            </a:extLst>
          </p:cNvPr>
          <p:cNvSpPr txBox="1"/>
          <p:nvPr/>
        </p:nvSpPr>
        <p:spPr>
          <a:xfrm>
            <a:off x="3235882" y="5668906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P2_rc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DFC23B2-1EB3-29ED-CDEA-7F9416055516}"/>
              </a:ext>
            </a:extLst>
          </p:cNvPr>
          <p:cNvCxnSpPr>
            <a:cxnSpLocks/>
          </p:cNvCxnSpPr>
          <p:nvPr/>
        </p:nvCxnSpPr>
        <p:spPr>
          <a:xfrm flipV="1">
            <a:off x="2346534" y="4965700"/>
            <a:ext cx="85516" cy="1754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7E3F7F5-995D-F187-53BB-42E0B8C1717A}"/>
              </a:ext>
            </a:extLst>
          </p:cNvPr>
          <p:cNvSpPr txBox="1"/>
          <p:nvPr/>
        </p:nvSpPr>
        <p:spPr>
          <a:xfrm>
            <a:off x="2381544" y="4981736"/>
            <a:ext cx="10935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n (unit vector)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0C3763-33F7-0730-6C52-73A42A74D08A}"/>
              </a:ext>
            </a:extLst>
          </p:cNvPr>
          <p:cNvSpPr txBox="1"/>
          <p:nvPr/>
        </p:nvSpPr>
        <p:spPr>
          <a:xfrm>
            <a:off x="1685606" y="5017733"/>
            <a:ext cx="2327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t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9F97BE4-EDF9-032C-831A-3F64415C9EC5}"/>
              </a:ext>
            </a:extLst>
          </p:cNvPr>
          <p:cNvCxnSpPr>
            <a:cxnSpLocks/>
          </p:cNvCxnSpPr>
          <p:nvPr/>
        </p:nvCxnSpPr>
        <p:spPr>
          <a:xfrm flipV="1">
            <a:off x="1088059" y="4660226"/>
            <a:ext cx="283178" cy="190883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1476AB97-0660-C62D-815B-ADC86890D519}"/>
              </a:ext>
            </a:extLst>
          </p:cNvPr>
          <p:cNvSpPr/>
          <p:nvPr/>
        </p:nvSpPr>
        <p:spPr>
          <a:xfrm>
            <a:off x="1318113" y="4591171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BF6128-5EC3-DBB7-67B6-C36534DEDABD}"/>
              </a:ext>
            </a:extLst>
          </p:cNvPr>
          <p:cNvSpPr txBox="1"/>
          <p:nvPr/>
        </p:nvSpPr>
        <p:spPr>
          <a:xfrm>
            <a:off x="1243099" y="5585477"/>
            <a:ext cx="6495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pathRC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3258B5-789B-CEB4-7AD4-4E3D617C4A61}"/>
              </a:ext>
            </a:extLst>
          </p:cNvPr>
          <p:cNvSpPr txBox="1"/>
          <p:nvPr/>
        </p:nvSpPr>
        <p:spPr>
          <a:xfrm>
            <a:off x="918962" y="4310387"/>
            <a:ext cx="3449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rel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742121BD-494A-3C6E-FF4E-F60D7814FD33}"/>
              </a:ext>
            </a:extLst>
          </p:cNvPr>
          <p:cNvCxnSpPr>
            <a:cxnSpLocks/>
            <a:stCxn id="49" idx="2"/>
          </p:cNvCxnSpPr>
          <p:nvPr/>
        </p:nvCxnSpPr>
        <p:spPr>
          <a:xfrm flipH="1" flipV="1">
            <a:off x="1044575" y="4654550"/>
            <a:ext cx="2318640" cy="89827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303BE99-1DF5-0A19-7022-70274E7E692E}"/>
              </a:ext>
            </a:extLst>
          </p:cNvPr>
          <p:cNvCxnSpPr>
            <a:cxnSpLocks/>
          </p:cNvCxnSpPr>
          <p:nvPr/>
        </p:nvCxnSpPr>
        <p:spPr>
          <a:xfrm>
            <a:off x="987510" y="4557988"/>
            <a:ext cx="2965450" cy="118110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0D37DAF-6B5A-7626-5360-BC5EF7AC014B}"/>
              </a:ext>
            </a:extLst>
          </p:cNvPr>
          <p:cNvCxnSpPr>
            <a:cxnSpLocks/>
          </p:cNvCxnSpPr>
          <p:nvPr/>
        </p:nvCxnSpPr>
        <p:spPr>
          <a:xfrm flipV="1">
            <a:off x="1080791" y="4619629"/>
            <a:ext cx="297713" cy="1983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63B469C-0E08-D3A0-E26D-52C31A6F57CE}"/>
              </a:ext>
            </a:extLst>
          </p:cNvPr>
          <p:cNvSpPr txBox="1"/>
          <p:nvPr/>
        </p:nvSpPr>
        <p:spPr>
          <a:xfrm>
            <a:off x="4062601" y="4499843"/>
            <a:ext cx="2638308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sz="1100" noProof="1"/>
              <a:t>(n이 바뀌는 것과 별개로,)</a:t>
            </a:r>
          </a:p>
          <a:p>
            <a:pPr marL="342900" indent="-342900">
              <a:buFont typeface="+mj-lt"/>
              <a:buAutoNum type="arabicPeriod"/>
            </a:pPr>
            <a:r>
              <a:rPr lang="ko-KR" sz="1100" noProof="1"/>
              <a:t>rel이 바뀐다</a:t>
            </a:r>
          </a:p>
          <a:p>
            <a:pPr marL="342900" indent="-342900">
              <a:buFont typeface="+mj-lt"/>
              <a:buAutoNum type="arabicPeriod"/>
            </a:pPr>
            <a:r>
              <a:rPr lang="ko-KR" sz="1100" noProof="1"/>
              <a:t>-&gt; 이는 signed_dist가 계산되는 원점이 바뀌는 양상과 동일하다</a:t>
            </a:r>
            <a:br>
              <a:rPr lang="ko-KR" sz="1100" noProof="1"/>
            </a:br>
            <a:r>
              <a:rPr lang="ko-KR" sz="1100" noProof="1"/>
              <a:t>(= PathRC 전체가 수직방향으로 (n방향으로) 평행이동하는 것과 동일하다</a:t>
            </a:r>
          </a:p>
          <a:p>
            <a:pPr marL="342900" indent="-342900">
              <a:buFont typeface="+mj-lt"/>
              <a:buAutoNum type="arabicPeriod"/>
            </a:pPr>
            <a:r>
              <a:rPr lang="ko-KR" sz="1100" noProof="1"/>
              <a:t>따라서 negative displacement, positive displacement의 population과 크기가 바뀐다</a:t>
            </a:r>
          </a:p>
          <a:p>
            <a:pPr marL="342900" indent="-342900">
              <a:buFont typeface="+mj-lt"/>
              <a:buAutoNum type="arabicPeriod"/>
            </a:pPr>
            <a:r>
              <a:rPr lang="ko-KR" sz="1100" noProof="1"/>
              <a:t>따라서 signed_dist가 바뀐다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BF71F6-2AED-F003-77D6-55521469DD9C}"/>
              </a:ext>
            </a:extLst>
          </p:cNvPr>
          <p:cNvSpPr txBox="1"/>
          <p:nvPr/>
        </p:nvSpPr>
        <p:spPr>
          <a:xfrm>
            <a:off x="6243548" y="2681042"/>
            <a:ext cx="5877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noProof="1"/>
              <a:t>PathRC의 Error (Monte Carlo)를 고려하지 않은 이유</a:t>
            </a:r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1E9E2D91-F306-0FB4-B789-33C5F4D48028}"/>
              </a:ext>
            </a:extLst>
          </p:cNvPr>
          <p:cNvSpPr/>
          <p:nvPr/>
        </p:nvSpPr>
        <p:spPr>
          <a:xfrm>
            <a:off x="7578807" y="3822527"/>
            <a:ext cx="2402267" cy="930247"/>
          </a:xfrm>
          <a:custGeom>
            <a:avLst/>
            <a:gdLst>
              <a:gd name="csX0" fmla="*/ 0 w 4363350"/>
              <a:gd name="csY0" fmla="*/ 238539 h 1689652"/>
              <a:gd name="csX1" fmla="*/ 477079 w 4363350"/>
              <a:gd name="csY1" fmla="*/ 59635 h 1689652"/>
              <a:gd name="csX2" fmla="*/ 1182757 w 4363350"/>
              <a:gd name="csY2" fmla="*/ 0 h 1689652"/>
              <a:gd name="csX3" fmla="*/ 1888435 w 4363350"/>
              <a:gd name="csY3" fmla="*/ 129209 h 1689652"/>
              <a:gd name="csX4" fmla="*/ 1967948 w 4363350"/>
              <a:gd name="csY4" fmla="*/ 208722 h 1689652"/>
              <a:gd name="csX5" fmla="*/ 2057400 w 4363350"/>
              <a:gd name="csY5" fmla="*/ 318052 h 1689652"/>
              <a:gd name="csX6" fmla="*/ 2156792 w 4363350"/>
              <a:gd name="csY6" fmla="*/ 487018 h 1689652"/>
              <a:gd name="csX7" fmla="*/ 2335696 w 4363350"/>
              <a:gd name="csY7" fmla="*/ 616226 h 1689652"/>
              <a:gd name="csX8" fmla="*/ 2792896 w 4363350"/>
              <a:gd name="csY8" fmla="*/ 655983 h 1689652"/>
              <a:gd name="csX9" fmla="*/ 3269974 w 4363350"/>
              <a:gd name="csY9" fmla="*/ 735496 h 1689652"/>
              <a:gd name="csX10" fmla="*/ 3448879 w 4363350"/>
              <a:gd name="csY10" fmla="*/ 854765 h 1689652"/>
              <a:gd name="csX11" fmla="*/ 3607905 w 4363350"/>
              <a:gd name="csY11" fmla="*/ 1013792 h 1689652"/>
              <a:gd name="csX12" fmla="*/ 3776870 w 4363350"/>
              <a:gd name="csY12" fmla="*/ 1242392 h 1689652"/>
              <a:gd name="csX13" fmla="*/ 3896140 w 4363350"/>
              <a:gd name="csY13" fmla="*/ 1341783 h 1689652"/>
              <a:gd name="csX14" fmla="*/ 4234070 w 4363350"/>
              <a:gd name="csY14" fmla="*/ 1520687 h 1689652"/>
              <a:gd name="csX15" fmla="*/ 4293705 w 4363350"/>
              <a:gd name="csY15" fmla="*/ 1560444 h 1689652"/>
              <a:gd name="csX16" fmla="*/ 4333461 w 4363350"/>
              <a:gd name="csY16" fmla="*/ 1630018 h 1689652"/>
              <a:gd name="csX17" fmla="*/ 4343400 w 4363350"/>
              <a:gd name="csY17" fmla="*/ 1659835 h 1689652"/>
              <a:gd name="csX18" fmla="*/ 4363279 w 4363350"/>
              <a:gd name="csY18" fmla="*/ 1689652 h 1689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363350" h="1689652">
                <a:moveTo>
                  <a:pt x="0" y="238539"/>
                </a:moveTo>
                <a:cubicBezTo>
                  <a:pt x="164577" y="128823"/>
                  <a:pt x="141953" y="136351"/>
                  <a:pt x="477079" y="59635"/>
                </a:cubicBezTo>
                <a:cubicBezTo>
                  <a:pt x="706448" y="7129"/>
                  <a:pt x="949013" y="7791"/>
                  <a:pt x="1182757" y="0"/>
                </a:cubicBezTo>
                <a:cubicBezTo>
                  <a:pt x="1411597" y="26005"/>
                  <a:pt x="1670937" y="29781"/>
                  <a:pt x="1888435" y="129209"/>
                </a:cubicBezTo>
                <a:cubicBezTo>
                  <a:pt x="1922525" y="144793"/>
                  <a:pt x="1942955" y="180788"/>
                  <a:pt x="1967948" y="208722"/>
                </a:cubicBezTo>
                <a:cubicBezTo>
                  <a:pt x="1999345" y="243813"/>
                  <a:pt x="2030961" y="279089"/>
                  <a:pt x="2057400" y="318052"/>
                </a:cubicBezTo>
                <a:cubicBezTo>
                  <a:pt x="2094091" y="372122"/>
                  <a:pt x="2116951" y="435225"/>
                  <a:pt x="2156792" y="487018"/>
                </a:cubicBezTo>
                <a:cubicBezTo>
                  <a:pt x="2187573" y="527034"/>
                  <a:pt x="2276573" y="602582"/>
                  <a:pt x="2335696" y="616226"/>
                </a:cubicBezTo>
                <a:cubicBezTo>
                  <a:pt x="2405485" y="632331"/>
                  <a:pt x="2767147" y="653599"/>
                  <a:pt x="2792896" y="655983"/>
                </a:cubicBezTo>
                <a:cubicBezTo>
                  <a:pt x="3069271" y="681573"/>
                  <a:pt x="3015287" y="677612"/>
                  <a:pt x="3269974" y="735496"/>
                </a:cubicBezTo>
                <a:cubicBezTo>
                  <a:pt x="3372900" y="791637"/>
                  <a:pt x="3372229" y="781448"/>
                  <a:pt x="3448879" y="854765"/>
                </a:cubicBezTo>
                <a:cubicBezTo>
                  <a:pt x="3503052" y="906583"/>
                  <a:pt x="3568615" y="949947"/>
                  <a:pt x="3607905" y="1013792"/>
                </a:cubicBezTo>
                <a:cubicBezTo>
                  <a:pt x="3677768" y="1127318"/>
                  <a:pt x="3682683" y="1152690"/>
                  <a:pt x="3776870" y="1242392"/>
                </a:cubicBezTo>
                <a:cubicBezTo>
                  <a:pt x="3814345" y="1278083"/>
                  <a:pt x="3853910" y="1311870"/>
                  <a:pt x="3896140" y="1341783"/>
                </a:cubicBezTo>
                <a:cubicBezTo>
                  <a:pt x="3978828" y="1400354"/>
                  <a:pt x="4163635" y="1482954"/>
                  <a:pt x="4234070" y="1520687"/>
                </a:cubicBezTo>
                <a:cubicBezTo>
                  <a:pt x="4255129" y="1531969"/>
                  <a:pt x="4273827" y="1547192"/>
                  <a:pt x="4293705" y="1560444"/>
                </a:cubicBezTo>
                <a:cubicBezTo>
                  <a:pt x="4306957" y="1583635"/>
                  <a:pt x="4321516" y="1606127"/>
                  <a:pt x="4333461" y="1630018"/>
                </a:cubicBezTo>
                <a:cubicBezTo>
                  <a:pt x="4338146" y="1639389"/>
                  <a:pt x="4338010" y="1650851"/>
                  <a:pt x="4343400" y="1659835"/>
                </a:cubicBezTo>
                <a:cubicBezTo>
                  <a:pt x="4365622" y="1696870"/>
                  <a:pt x="4363279" y="1665105"/>
                  <a:pt x="4363279" y="1689652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9B6B2238-72D7-F7A3-5275-420EB6FCF03C}"/>
              </a:ext>
            </a:extLst>
          </p:cNvPr>
          <p:cNvSpPr/>
          <p:nvPr/>
        </p:nvSpPr>
        <p:spPr>
          <a:xfrm>
            <a:off x="7557241" y="3912568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7EEAA57F-3C9F-9E74-0601-E2EB3C3A6D1D}"/>
              </a:ext>
            </a:extLst>
          </p:cNvPr>
          <p:cNvSpPr/>
          <p:nvPr/>
        </p:nvSpPr>
        <p:spPr>
          <a:xfrm>
            <a:off x="9954512" y="4699622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D7E490-F8DD-59C8-A0F4-F11E06129E6A}"/>
              </a:ext>
            </a:extLst>
          </p:cNvPr>
          <p:cNvSpPr txBox="1"/>
          <p:nvPr/>
        </p:nvSpPr>
        <p:spPr>
          <a:xfrm>
            <a:off x="8972841" y="3928360"/>
            <a:ext cx="11176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PathRC의 곡선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FE99460-344C-31B5-1176-F1CD50704679}"/>
              </a:ext>
            </a:extLst>
          </p:cNvPr>
          <p:cNvSpPr txBox="1"/>
          <p:nvPr/>
        </p:nvSpPr>
        <p:spPr>
          <a:xfrm>
            <a:off x="9886028" y="4764253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P2_rc</a:t>
            </a: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E770F99A-1D1F-8A69-F287-6A0ED1899E30}"/>
              </a:ext>
            </a:extLst>
          </p:cNvPr>
          <p:cNvSpPr/>
          <p:nvPr/>
        </p:nvSpPr>
        <p:spPr>
          <a:xfrm>
            <a:off x="7674479" y="3834896"/>
            <a:ext cx="93025" cy="9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sz="1050" noProof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A14A9DE-853C-7BA0-BF19-196237481682}"/>
              </a:ext>
            </a:extLst>
          </p:cNvPr>
          <p:cNvSpPr txBox="1"/>
          <p:nvPr/>
        </p:nvSpPr>
        <p:spPr>
          <a:xfrm>
            <a:off x="7518218" y="3584072"/>
            <a:ext cx="3449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rel</a:t>
            </a: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A1E26307-5661-B7C0-F878-944428B6C3DA}"/>
              </a:ext>
            </a:extLst>
          </p:cNvPr>
          <p:cNvCxnSpPr>
            <a:cxnSpLocks/>
            <a:stCxn id="77" idx="2"/>
          </p:cNvCxnSpPr>
          <p:nvPr/>
        </p:nvCxnSpPr>
        <p:spPr>
          <a:xfrm flipH="1" flipV="1">
            <a:off x="7591955" y="3959081"/>
            <a:ext cx="2362557" cy="78705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5BBD296-B4CC-4332-031C-A8F028E1A964}"/>
              </a:ext>
            </a:extLst>
          </p:cNvPr>
          <p:cNvCxnSpPr>
            <a:cxnSpLocks/>
          </p:cNvCxnSpPr>
          <p:nvPr/>
        </p:nvCxnSpPr>
        <p:spPr>
          <a:xfrm flipV="1">
            <a:off x="7603753" y="3879056"/>
            <a:ext cx="113878" cy="6854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2AE27235-1946-ECF7-8368-0BC0BF067F4B}"/>
              </a:ext>
            </a:extLst>
          </p:cNvPr>
          <p:cNvSpPr txBox="1"/>
          <p:nvPr/>
        </p:nvSpPr>
        <p:spPr>
          <a:xfrm>
            <a:off x="7032576" y="3879056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050" noProof="1"/>
              <a:t>P1_rc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A427BD1-EDDB-1927-3AAA-0C9839DB859E}"/>
              </a:ext>
            </a:extLst>
          </p:cNvPr>
          <p:cNvSpPr txBox="1"/>
          <p:nvPr/>
        </p:nvSpPr>
        <p:spPr>
          <a:xfrm>
            <a:off x="7170222" y="5291879"/>
            <a:ext cx="439422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sz="1100" noProof="1"/>
              <a:t>PathRC의 Error까지 계산하는 것은, 코딩 난이도가 상당하다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sz="1100" noProof="1"/>
              <a:t>그러나, PathRC의 Error, 즉 양끝 point가 +- 5 px 정도 바뀌는 것은, 전체 signed_dist의 값에 큰 영향을 주지 않는다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sz="1100" noProof="1"/>
              <a:t>왜냐하면, domain wall의 끝 부분이라, rel 자체가 굉장히 작기 때문이다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sz="1100" noProof="1"/>
              <a:t>따라서 이것까지 고려하기에는 가성비가 떨어지기에, </a:t>
            </a:r>
            <a:r>
              <a:rPr lang="ko-KR" sz="1100" b="1" noProof="1"/>
              <a:t>매우 작다고 가정하고</a:t>
            </a:r>
            <a:r>
              <a:rPr lang="ko-KR" sz="1100" noProof="1"/>
              <a:t>, 무시하기로 했다.</a:t>
            </a:r>
          </a:p>
        </p:txBody>
      </p:sp>
    </p:spTree>
    <p:extLst>
      <p:ext uri="{BB962C8B-B14F-4D97-AF65-F5344CB8AC3E}">
        <p14:creationId xmlns:p14="http://schemas.microsoft.com/office/powerpoint/2010/main" val="4060019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346</Words>
  <Application>Microsoft Office PowerPoint</Application>
  <PresentationFormat>와이드스크린</PresentationFormat>
  <Paragraphs>70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김병현</dc:creator>
  <cp:lastModifiedBy>김병현</cp:lastModifiedBy>
  <cp:revision>2</cp:revision>
  <dcterms:created xsi:type="dcterms:W3CDTF">2025-12-31T06:01:57Z</dcterms:created>
  <dcterms:modified xsi:type="dcterms:W3CDTF">2025-12-31T06:21:35Z</dcterms:modified>
</cp:coreProperties>
</file>