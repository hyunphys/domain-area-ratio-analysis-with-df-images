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7D9CE-71D4-368B-C8AA-D0CD46768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08EF97-DC72-A404-E130-F5C923FBA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7258F-C2F2-89EC-A616-FCC5B19A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BE5FA-AA46-14A1-71EF-39F56BA7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3A0CB8-057E-D50D-9BD9-51EFE3A9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2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BC58-5207-1F5D-1B60-DEDFE565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FF057-BAB7-9C3E-0545-35112C06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3518F-DF2D-D560-CE40-6EE77C7E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33257E-15E2-A65C-2F65-CC6DBFF5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B9804-550B-BAB2-F785-8B3DD201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0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37280-EDBD-3A5F-C760-4536DE22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3EC67-EFBD-0BBB-E314-C396E9212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9F08F-418F-11C1-4AA8-A2569EB2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A5C07-9ECF-7EF6-462D-07CF37FD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92D14-AAE1-BB6C-3079-C4E80143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75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82D2C-FFA1-B0C2-1088-DE8F4661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9C0EC-53B9-EEE9-17A7-C2F30B62B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DB19DB-19DC-4847-4C63-C11862B80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678C77-27B2-4C9B-77FA-71D399D5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64A46-1E40-8C47-0504-0EC00FB4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202DF4-307F-4683-6854-300BADEE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7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67EBF-FD21-C248-E803-5E77CA98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8E9CD-BB5C-770C-D5CC-3DF208CC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5DF48-5C98-71B2-4ABA-8308D5FD7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A033D9-712A-FFF3-3450-8BA833AD1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55C703-DA2B-9872-A16A-992290930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18FB94-988D-3C6A-6C0D-2BE7AC20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04DD31-953F-D559-413F-BAB08E02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3DCE9C-4992-BE8E-2957-98299AA7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DD6B8-52C4-4C56-1CA0-02E26B2A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1C9330-5802-97FD-A60A-AE1A8C5E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87C2B8-B009-89A2-94E7-2459959D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AE66E2-0C45-7462-C5C3-FEA2A1D6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8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EC7870-5DCE-1BA3-3446-AA5C6EBD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120928-3F21-506C-7AE0-CE9D1872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AA0AF-C53C-2327-3344-326D474A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02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ED30B-4A29-6451-6291-C69EFDEF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3A56A-E9D1-9148-B59B-3C447E9E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8DEE4E-F6B6-3955-611F-EE5AFFEE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4BCA8-4624-B5AA-ACC6-1F95B57B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7F588D-429E-F1D0-EE97-C8905436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B523E6-5D57-4804-A141-E7F27315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6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429D1-687C-BE72-97FD-91C4D617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DD52BE-E1F3-E7E6-6CDD-801B110EC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EB8578-82CD-FC0F-AC09-DB3AFABEB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467B18-9914-33F3-4092-2E91356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F993A2-8311-8E07-739C-CC129BA8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0460D-9834-AAD7-89AC-A0E87FAE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6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D6BFE-E5F7-DF66-158E-41120C48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FA3BD0-8FB8-595D-EB3C-4AEC167EF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17005-C4A1-2D15-FF8F-05425E8B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D0031C-6021-FAF5-41A7-44A47999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6E7E8-DAC1-CBD4-8598-494CE0D0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75E9D0-57B9-ED76-D649-99F26C342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974821-EC3B-C9F7-69CD-58CD6D8A8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7702B-26F4-A44D-2371-4A26F2CD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37FDA5-D9BA-D5F3-882F-201E17C5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0F538-D59A-6EDF-63B9-48E4BBDC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14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75390D-A532-948A-8127-9D39695E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C7D38-9AF0-B956-41D6-266F311BB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34819-FADD-CF31-D11B-D218BF91E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9DEA-F9F3-431A-890E-552EB1A1EA2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53BE5A-630A-774F-4670-41431A2E2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76486-06B2-2153-9131-18248A8A9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79975-6DD9-4467-9F1E-529D75D3B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38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DE2CEF-2B4F-850E-6E98-DA7F7F086D54}"/>
              </a:ext>
            </a:extLst>
          </p:cNvPr>
          <p:cNvSpPr txBox="1"/>
          <p:nvPr/>
        </p:nvSpPr>
        <p:spPr>
          <a:xfrm>
            <a:off x="5482351" y="182372"/>
            <a:ext cx="67096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Specimen info: </a:t>
            </a:r>
            <a:r>
              <a:rPr lang="ko-KR" altLang="en-US" sz="1600" dirty="0"/>
              <a:t>시편 정보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Data info: </a:t>
            </a:r>
            <a:r>
              <a:rPr lang="ko-KR" altLang="en-US" sz="1600" dirty="0"/>
              <a:t>원본 데이터 정보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폴더명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Pair_idx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node</a:t>
            </a:r>
            <a:r>
              <a:rPr lang="ko-KR" altLang="en-US" sz="1600" dirty="0"/>
              <a:t> 두 개를 묶은</a:t>
            </a:r>
            <a:r>
              <a:rPr lang="en-US" altLang="ko-KR" sz="1600" dirty="0"/>
              <a:t> pair</a:t>
            </a:r>
            <a:r>
              <a:rPr lang="ko-KR" altLang="en-US" sz="1600" dirty="0"/>
              <a:t>의 번호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Idx_1, idx_2: </a:t>
            </a:r>
            <a:r>
              <a:rPr lang="ko-KR" altLang="en-US" sz="1600" dirty="0"/>
              <a:t>해당 </a:t>
            </a:r>
            <a:r>
              <a:rPr lang="en-US" altLang="ko-KR" sz="1600" dirty="0" err="1"/>
              <a:t>Pair_idx</a:t>
            </a:r>
            <a:r>
              <a:rPr lang="ko-KR" altLang="en-US" sz="1600" dirty="0"/>
              <a:t>에 포함되어 있는 </a:t>
            </a:r>
            <a:r>
              <a:rPr lang="en-US" altLang="ko-KR" sz="1600" dirty="0"/>
              <a:t>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e.g.) </a:t>
            </a:r>
            <a:r>
              <a:rPr lang="ko-KR" altLang="en-US" sz="1600" dirty="0"/>
              <a:t>이 그림에서 </a:t>
            </a:r>
            <a:r>
              <a:rPr lang="en-US" altLang="ko-KR" sz="1600" dirty="0" err="1"/>
              <a:t>pair_idx</a:t>
            </a:r>
            <a:r>
              <a:rPr lang="en-US" altLang="ko-KR" sz="1600" dirty="0"/>
              <a:t> = 1</a:t>
            </a:r>
            <a:r>
              <a:rPr lang="ko-KR" altLang="en-US" sz="1600" dirty="0"/>
              <a:t>은 </a:t>
            </a:r>
            <a:r>
              <a:rPr lang="en-US" altLang="ko-KR" sz="1600" dirty="0"/>
              <a:t>node idx_1=3</a:t>
            </a:r>
            <a:r>
              <a:rPr lang="ko-KR" altLang="en-US" sz="1600" dirty="0"/>
              <a:t>과 </a:t>
            </a:r>
            <a:r>
              <a:rPr lang="en-US" altLang="ko-KR" sz="1600" dirty="0"/>
              <a:t>idx_2=4</a:t>
            </a:r>
            <a:r>
              <a:rPr lang="ko-KR" altLang="en-US" sz="1600" dirty="0"/>
              <a:t>를 포함한다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Arc_len</a:t>
            </a:r>
            <a:r>
              <a:rPr lang="en-US" altLang="ko-KR" sz="1600" dirty="0"/>
              <a:t>: </a:t>
            </a:r>
            <a:r>
              <a:rPr lang="ko-KR" altLang="en-US" sz="1600" dirty="0"/>
              <a:t>휘어진 </a:t>
            </a:r>
            <a:r>
              <a:rPr lang="en-US" altLang="ko-KR" sz="1600" dirty="0"/>
              <a:t>DW</a:t>
            </a:r>
            <a:r>
              <a:rPr lang="ko-KR" altLang="en-US" sz="1600" dirty="0"/>
              <a:t>의 길이 </a:t>
            </a:r>
            <a:r>
              <a:rPr lang="en-US" altLang="ko-KR" sz="1600" dirty="0"/>
              <a:t>(</a:t>
            </a:r>
            <a:r>
              <a:rPr lang="ko-KR" altLang="en-US" sz="1600" dirty="0"/>
              <a:t>이는 데이터 상 </a:t>
            </a:r>
            <a:r>
              <a:rPr lang="en-US" altLang="ko-KR" sz="1600" dirty="0"/>
              <a:t>DW</a:t>
            </a:r>
            <a:r>
              <a:rPr lang="ko-KR" altLang="en-US" sz="1600" dirty="0"/>
              <a:t>의 길이를 계산해 구함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Chord_len</a:t>
            </a:r>
            <a:r>
              <a:rPr lang="en-US" altLang="ko-KR" sz="1600" dirty="0"/>
              <a:t>: </a:t>
            </a:r>
            <a:r>
              <a:rPr lang="ko-KR" altLang="en-US" sz="1600" dirty="0"/>
              <a:t>두 노드 사이 직선 길이 </a:t>
            </a:r>
            <a:r>
              <a:rPr lang="en-US" altLang="ko-KR" sz="1600" dirty="0"/>
              <a:t>(</a:t>
            </a:r>
            <a:r>
              <a:rPr lang="ko-KR" altLang="en-US" sz="1600" dirty="0"/>
              <a:t>유클리드 거리를 계산</a:t>
            </a:r>
            <a:r>
              <a:rPr lang="en-US" altLang="ko-KR" sz="1600" dirty="0"/>
              <a:t>. </a:t>
            </a:r>
            <a:r>
              <a:rPr lang="ko-KR" altLang="en-US" sz="1600" dirty="0"/>
              <a:t>이는 곧 </a:t>
            </a:r>
            <a:r>
              <a:rPr lang="en-US" altLang="ko-KR" sz="1600" dirty="0"/>
              <a:t>moiré length</a:t>
            </a:r>
            <a:r>
              <a:rPr lang="ko-KR" altLang="en-US" sz="1600" dirty="0"/>
              <a:t>와 동일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Arc_over_chord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arc_len</a:t>
            </a:r>
            <a:r>
              <a:rPr lang="en-US" altLang="ko-KR" sz="1600" dirty="0"/>
              <a:t> / </a:t>
            </a:r>
            <a:r>
              <a:rPr lang="en-US" altLang="ko-KR" sz="1600" dirty="0" err="1"/>
              <a:t>chord_len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Signed_dist</a:t>
            </a:r>
            <a:r>
              <a:rPr lang="en-US" altLang="ko-KR" sz="1600" dirty="0"/>
              <a:t> (type: array): arc coordinate </a:t>
            </a:r>
            <a:r>
              <a:rPr lang="ko-KR" altLang="en-US" sz="1600" dirty="0"/>
              <a:t>기준 </a:t>
            </a:r>
            <a:r>
              <a:rPr lang="en-US" altLang="ko-KR" sz="1600" dirty="0"/>
              <a:t>chord</a:t>
            </a:r>
            <a:r>
              <a:rPr lang="ko-KR" altLang="en-US" sz="1600" dirty="0"/>
              <a:t>와의 수직 거리 </a:t>
            </a:r>
            <a:r>
              <a:rPr lang="en-US" altLang="ko-KR" sz="1600" dirty="0"/>
              <a:t>(chord</a:t>
            </a:r>
            <a:r>
              <a:rPr lang="ko-KR" altLang="en-US" sz="1600" dirty="0"/>
              <a:t> 기준 </a:t>
            </a:r>
            <a:r>
              <a:rPr lang="en-US" altLang="ko-KR" sz="1600" dirty="0"/>
              <a:t>coordinate</a:t>
            </a:r>
            <a:r>
              <a:rPr lang="ko-KR" altLang="en-US" sz="1600" dirty="0"/>
              <a:t>이 아님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Max_sagitta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signed_dist_px</a:t>
            </a:r>
            <a:r>
              <a:rPr lang="ko-KR" altLang="en-US" sz="1600" dirty="0"/>
              <a:t>의 최댓값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Rms_sagitta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signed_dist_px</a:t>
            </a:r>
            <a:r>
              <a:rPr lang="ko-KR" altLang="en-US" sz="1600" dirty="0"/>
              <a:t>의 </a:t>
            </a:r>
            <a:r>
              <a:rPr lang="en-US" altLang="ko-KR" sz="1600" dirty="0"/>
              <a:t>rms</a:t>
            </a:r>
            <a:r>
              <a:rPr lang="ko-KR" altLang="en-US" sz="1600" dirty="0"/>
              <a:t>값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Max_sagitta_std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rms_sagitta_std</a:t>
            </a:r>
            <a:r>
              <a:rPr lang="en-US" altLang="ko-KR" sz="1600" dirty="0"/>
              <a:t>: </a:t>
            </a:r>
            <a:r>
              <a:rPr lang="ko-KR" altLang="en-US" sz="1600" dirty="0"/>
              <a:t>각각의 </a:t>
            </a:r>
            <a:r>
              <a:rPr lang="en-US" altLang="ko-KR" sz="1600" dirty="0"/>
              <a:t>error (std). Monte Carlo </a:t>
            </a:r>
            <a:r>
              <a:rPr lang="ko-KR" altLang="en-US" sz="1600" dirty="0"/>
              <a:t>방식으로 계산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Area_proj</a:t>
            </a:r>
            <a:r>
              <a:rPr lang="en-US" altLang="ko-KR" sz="1600" dirty="0"/>
              <a:t>: chord coordinate </a:t>
            </a:r>
            <a:r>
              <a:rPr lang="ko-KR" altLang="en-US" sz="1600" dirty="0"/>
              <a:t>기준으로 구한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signed_dist</a:t>
            </a:r>
            <a:r>
              <a:rPr lang="ko-KR" altLang="en-US" sz="1600" dirty="0"/>
              <a:t>의 </a:t>
            </a:r>
            <a:r>
              <a:rPr lang="en-US" altLang="ko-KR" sz="1600" dirty="0"/>
              <a:t>Riemann sum.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4B5A786-AD54-8B16-D1D5-515CDA9CA567}"/>
              </a:ext>
            </a:extLst>
          </p:cNvPr>
          <p:cNvGrpSpPr/>
          <p:nvPr/>
        </p:nvGrpSpPr>
        <p:grpSpPr>
          <a:xfrm>
            <a:off x="93472" y="103170"/>
            <a:ext cx="5291153" cy="3325830"/>
            <a:chOff x="472931" y="1523098"/>
            <a:chExt cx="5291153" cy="3325830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4EF9173-94B8-7AFA-FCD8-5AFD832F70C7}"/>
                </a:ext>
              </a:extLst>
            </p:cNvPr>
            <p:cNvSpPr/>
            <p:nvPr/>
          </p:nvSpPr>
          <p:spPr>
            <a:xfrm>
              <a:off x="3573117" y="2072308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995FDDF-810D-BAFB-A1B1-503144A1BD30}"/>
                </a:ext>
              </a:extLst>
            </p:cNvPr>
            <p:cNvSpPr/>
            <p:nvPr/>
          </p:nvSpPr>
          <p:spPr>
            <a:xfrm>
              <a:off x="2489751" y="3980621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ABBDB07-EB1A-0A62-FF52-0C16941FA0E3}"/>
                </a:ext>
              </a:extLst>
            </p:cNvPr>
            <p:cNvSpPr/>
            <p:nvPr/>
          </p:nvSpPr>
          <p:spPr>
            <a:xfrm>
              <a:off x="4497455" y="4189342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1E65975-FDA6-C413-C715-36C5061E1829}"/>
                </a:ext>
              </a:extLst>
            </p:cNvPr>
            <p:cNvCxnSpPr>
              <a:cxnSpLocks/>
              <a:stCxn id="6" idx="0"/>
              <a:endCxn id="5" idx="3"/>
            </p:cNvCxnSpPr>
            <p:nvPr/>
          </p:nvCxnSpPr>
          <p:spPr>
            <a:xfrm flipV="1">
              <a:off x="2594112" y="2250463"/>
              <a:ext cx="1009571" cy="1730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A0692D8-43EC-4BC1-11D6-05DCD8E82931}"/>
                </a:ext>
              </a:extLst>
            </p:cNvPr>
            <p:cNvCxnSpPr>
              <a:cxnSpLocks/>
              <a:stCxn id="7" idx="0"/>
              <a:endCxn id="5" idx="5"/>
            </p:cNvCxnSpPr>
            <p:nvPr/>
          </p:nvCxnSpPr>
          <p:spPr>
            <a:xfrm flipH="1" flipV="1">
              <a:off x="3751272" y="2250463"/>
              <a:ext cx="850544" cy="1938879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CB19B62-65C6-B229-BC43-BF8E62A6F25F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2698472" y="4084982"/>
              <a:ext cx="1798983" cy="2087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3C009F-D540-72AB-4373-ECF86B8A99A0}"/>
                </a:ext>
              </a:extLst>
            </p:cNvPr>
            <p:cNvSpPr txBox="1"/>
            <p:nvPr/>
          </p:nvSpPr>
          <p:spPr>
            <a:xfrm>
              <a:off x="1832268" y="2950651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=1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105298-3F5D-CFE1-D9F4-9994C71BBF56}"/>
                </a:ext>
              </a:extLst>
            </p:cNvPr>
            <p:cNvSpPr txBox="1"/>
            <p:nvPr/>
          </p:nvSpPr>
          <p:spPr>
            <a:xfrm>
              <a:off x="4497455" y="3429000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=2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27E0CC-42F6-2280-9CBA-28D94145B8D4}"/>
                </a:ext>
              </a:extLst>
            </p:cNvPr>
            <p:cNvSpPr txBox="1"/>
            <p:nvPr/>
          </p:nvSpPr>
          <p:spPr>
            <a:xfrm>
              <a:off x="2939802" y="4397063"/>
              <a:ext cx="1266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pair_idx</a:t>
              </a:r>
              <a:r>
                <a:rPr lang="en-US" altLang="ko-KR" dirty="0"/>
                <a:t>=3</a:t>
              </a:r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F8759B2-02F3-F30F-BF94-1BFA211D7EC6}"/>
                </a:ext>
              </a:extLst>
            </p:cNvPr>
            <p:cNvSpPr/>
            <p:nvPr/>
          </p:nvSpPr>
          <p:spPr>
            <a:xfrm>
              <a:off x="1669773" y="2041742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4980281-3728-EB24-9F5F-1E04C7E6F0CD}"/>
                </a:ext>
              </a:extLst>
            </p:cNvPr>
            <p:cNvSpPr/>
            <p:nvPr/>
          </p:nvSpPr>
          <p:spPr>
            <a:xfrm>
              <a:off x="861019" y="3864998"/>
              <a:ext cx="208721" cy="2087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87C211-6A64-485C-D778-C0BA31FD8AD5}"/>
                </a:ext>
              </a:extLst>
            </p:cNvPr>
            <p:cNvSpPr txBox="1"/>
            <p:nvPr/>
          </p:nvSpPr>
          <p:spPr>
            <a:xfrm>
              <a:off x="472931" y="4097774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F17FE2-A1E8-802A-1C4A-7237E837B2B7}"/>
                </a:ext>
              </a:extLst>
            </p:cNvPr>
            <p:cNvSpPr txBox="1"/>
            <p:nvPr/>
          </p:nvSpPr>
          <p:spPr>
            <a:xfrm>
              <a:off x="1386045" y="1523098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8512A2-24BC-553A-7CB5-DA62DDF40FFC}"/>
                </a:ext>
              </a:extLst>
            </p:cNvPr>
            <p:cNvSpPr txBox="1"/>
            <p:nvPr/>
          </p:nvSpPr>
          <p:spPr>
            <a:xfrm>
              <a:off x="2018115" y="4350049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FAEB07-223D-A281-1E04-D19A12DAACF7}"/>
                </a:ext>
              </a:extLst>
            </p:cNvPr>
            <p:cNvSpPr txBox="1"/>
            <p:nvPr/>
          </p:nvSpPr>
          <p:spPr>
            <a:xfrm>
              <a:off x="3363184" y="1590236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5F9570-8518-4077-3727-448B93D2CE41}"/>
                </a:ext>
              </a:extLst>
            </p:cNvPr>
            <p:cNvSpPr txBox="1"/>
            <p:nvPr/>
          </p:nvSpPr>
          <p:spPr>
            <a:xfrm>
              <a:off x="4706176" y="4479596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FF0000"/>
                  </a:solidFill>
                </a:rPr>
                <a:t>idx</a:t>
              </a:r>
              <a:r>
                <a:rPr lang="en-US" altLang="ko-KR" dirty="0">
                  <a:solidFill>
                    <a:srgbClr val="FF0000"/>
                  </a:solidFill>
                </a:rPr>
                <a:t>=5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0B121444-7642-4741-1780-2BC1C4119E3F}"/>
                </a:ext>
              </a:extLst>
            </p:cNvPr>
            <p:cNvSpPr/>
            <p:nvPr/>
          </p:nvSpPr>
          <p:spPr>
            <a:xfrm>
              <a:off x="3672840" y="2186940"/>
              <a:ext cx="960120" cy="2095500"/>
            </a:xfrm>
            <a:custGeom>
              <a:avLst/>
              <a:gdLst>
                <a:gd name="connsiteX0" fmla="*/ 0 w 960120"/>
                <a:gd name="connsiteY0" fmla="*/ 0 h 2095500"/>
                <a:gd name="connsiteX1" fmla="*/ 68580 w 960120"/>
                <a:gd name="connsiteY1" fmla="*/ 60960 h 2095500"/>
                <a:gd name="connsiteX2" fmla="*/ 243840 w 960120"/>
                <a:gd name="connsiteY2" fmla="*/ 175260 h 2095500"/>
                <a:gd name="connsiteX3" fmla="*/ 358140 w 960120"/>
                <a:gd name="connsiteY3" fmla="*/ 251460 h 2095500"/>
                <a:gd name="connsiteX4" fmla="*/ 472440 w 960120"/>
                <a:gd name="connsiteY4" fmla="*/ 335280 h 2095500"/>
                <a:gd name="connsiteX5" fmla="*/ 533400 w 960120"/>
                <a:gd name="connsiteY5" fmla="*/ 396240 h 2095500"/>
                <a:gd name="connsiteX6" fmla="*/ 617220 w 960120"/>
                <a:gd name="connsiteY6" fmla="*/ 525780 h 2095500"/>
                <a:gd name="connsiteX7" fmla="*/ 662940 w 960120"/>
                <a:gd name="connsiteY7" fmla="*/ 632460 h 2095500"/>
                <a:gd name="connsiteX8" fmla="*/ 723900 w 960120"/>
                <a:gd name="connsiteY8" fmla="*/ 830580 h 2095500"/>
                <a:gd name="connsiteX9" fmla="*/ 739140 w 960120"/>
                <a:gd name="connsiteY9" fmla="*/ 899160 h 2095500"/>
                <a:gd name="connsiteX10" fmla="*/ 762000 w 960120"/>
                <a:gd name="connsiteY10" fmla="*/ 975360 h 2095500"/>
                <a:gd name="connsiteX11" fmla="*/ 800100 w 960120"/>
                <a:gd name="connsiteY11" fmla="*/ 1112520 h 2095500"/>
                <a:gd name="connsiteX12" fmla="*/ 807720 w 960120"/>
                <a:gd name="connsiteY12" fmla="*/ 1173480 h 2095500"/>
                <a:gd name="connsiteX13" fmla="*/ 830580 w 960120"/>
                <a:gd name="connsiteY13" fmla="*/ 1249680 h 2095500"/>
                <a:gd name="connsiteX14" fmla="*/ 853440 w 960120"/>
                <a:gd name="connsiteY14" fmla="*/ 1409700 h 2095500"/>
                <a:gd name="connsiteX15" fmla="*/ 891540 w 960120"/>
                <a:gd name="connsiteY15" fmla="*/ 1539240 h 2095500"/>
                <a:gd name="connsiteX16" fmla="*/ 899160 w 960120"/>
                <a:gd name="connsiteY16" fmla="*/ 1600200 h 2095500"/>
                <a:gd name="connsiteX17" fmla="*/ 937260 w 960120"/>
                <a:gd name="connsiteY17" fmla="*/ 1714500 h 2095500"/>
                <a:gd name="connsiteX18" fmla="*/ 960120 w 960120"/>
                <a:gd name="connsiteY18" fmla="*/ 1783080 h 2095500"/>
                <a:gd name="connsiteX19" fmla="*/ 952500 w 960120"/>
                <a:gd name="connsiteY19" fmla="*/ 1943100 h 2095500"/>
                <a:gd name="connsiteX20" fmla="*/ 944880 w 960120"/>
                <a:gd name="connsiteY20" fmla="*/ 2095500 h 209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60120" h="2095500">
                  <a:moveTo>
                    <a:pt x="0" y="0"/>
                  </a:moveTo>
                  <a:cubicBezTo>
                    <a:pt x="182967" y="109780"/>
                    <a:pt x="-114920" y="-74966"/>
                    <a:pt x="68580" y="60960"/>
                  </a:cubicBezTo>
                  <a:cubicBezTo>
                    <a:pt x="124625" y="102475"/>
                    <a:pt x="185500" y="137037"/>
                    <a:pt x="243840" y="175260"/>
                  </a:cubicBezTo>
                  <a:cubicBezTo>
                    <a:pt x="282142" y="200354"/>
                    <a:pt x="320040" y="226060"/>
                    <a:pt x="358140" y="251460"/>
                  </a:cubicBezTo>
                  <a:cubicBezTo>
                    <a:pt x="409572" y="285748"/>
                    <a:pt x="429914" y="295792"/>
                    <a:pt x="472440" y="335280"/>
                  </a:cubicBezTo>
                  <a:cubicBezTo>
                    <a:pt x="493498" y="354834"/>
                    <a:pt x="516697" y="372856"/>
                    <a:pt x="533400" y="396240"/>
                  </a:cubicBezTo>
                  <a:cubicBezTo>
                    <a:pt x="576359" y="456383"/>
                    <a:pt x="577012" y="454299"/>
                    <a:pt x="617220" y="525780"/>
                  </a:cubicBezTo>
                  <a:cubicBezTo>
                    <a:pt x="638890" y="564305"/>
                    <a:pt x="647974" y="589433"/>
                    <a:pt x="662940" y="632460"/>
                  </a:cubicBezTo>
                  <a:cubicBezTo>
                    <a:pt x="691212" y="713743"/>
                    <a:pt x="704164" y="751635"/>
                    <a:pt x="723900" y="830580"/>
                  </a:cubicBezTo>
                  <a:cubicBezTo>
                    <a:pt x="729580" y="853298"/>
                    <a:pt x="733180" y="876513"/>
                    <a:pt x="739140" y="899160"/>
                  </a:cubicBezTo>
                  <a:cubicBezTo>
                    <a:pt x="745889" y="924805"/>
                    <a:pt x="755251" y="949715"/>
                    <a:pt x="762000" y="975360"/>
                  </a:cubicBezTo>
                  <a:cubicBezTo>
                    <a:pt x="800376" y="1121189"/>
                    <a:pt x="751407" y="966440"/>
                    <a:pt x="800100" y="1112520"/>
                  </a:cubicBezTo>
                  <a:cubicBezTo>
                    <a:pt x="802640" y="1132840"/>
                    <a:pt x="803278" y="1153490"/>
                    <a:pt x="807720" y="1173480"/>
                  </a:cubicBezTo>
                  <a:cubicBezTo>
                    <a:pt x="813473" y="1199367"/>
                    <a:pt x="825836" y="1223589"/>
                    <a:pt x="830580" y="1249680"/>
                  </a:cubicBezTo>
                  <a:cubicBezTo>
                    <a:pt x="859333" y="1407820"/>
                    <a:pt x="816874" y="1278062"/>
                    <a:pt x="853440" y="1409700"/>
                  </a:cubicBezTo>
                  <a:cubicBezTo>
                    <a:pt x="874471" y="1485410"/>
                    <a:pt x="877803" y="1465977"/>
                    <a:pt x="891540" y="1539240"/>
                  </a:cubicBezTo>
                  <a:cubicBezTo>
                    <a:pt x="895314" y="1559367"/>
                    <a:pt x="893991" y="1580385"/>
                    <a:pt x="899160" y="1600200"/>
                  </a:cubicBezTo>
                  <a:cubicBezTo>
                    <a:pt x="909297" y="1639060"/>
                    <a:pt x="929384" y="1675119"/>
                    <a:pt x="937260" y="1714500"/>
                  </a:cubicBezTo>
                  <a:cubicBezTo>
                    <a:pt x="947108" y="1763739"/>
                    <a:pt x="939088" y="1741016"/>
                    <a:pt x="960120" y="1783080"/>
                  </a:cubicBezTo>
                  <a:cubicBezTo>
                    <a:pt x="957580" y="1836420"/>
                    <a:pt x="956052" y="1889818"/>
                    <a:pt x="952500" y="1943100"/>
                  </a:cubicBezTo>
                  <a:cubicBezTo>
                    <a:pt x="941795" y="2103682"/>
                    <a:pt x="944880" y="1910653"/>
                    <a:pt x="944880" y="209550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A48299-C67D-C813-DAC5-BC029C66BD09}"/>
                </a:ext>
              </a:extLst>
            </p:cNvPr>
            <p:cNvSpPr txBox="1"/>
            <p:nvPr/>
          </p:nvSpPr>
          <p:spPr>
            <a:xfrm>
              <a:off x="3115611" y="3324563"/>
              <a:ext cx="1192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00B0F0"/>
                  </a:solidFill>
                </a:rPr>
                <a:t>chord_len</a:t>
              </a:r>
              <a:endParaRPr lang="ko-KR" altLang="en-US" dirty="0">
                <a:solidFill>
                  <a:srgbClr val="00B0F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9135B5-0E69-BC10-1474-A2E5503C7A5F}"/>
                </a:ext>
              </a:extLst>
            </p:cNvPr>
            <p:cNvSpPr txBox="1"/>
            <p:nvPr/>
          </p:nvSpPr>
          <p:spPr>
            <a:xfrm>
              <a:off x="4497817" y="2719036"/>
              <a:ext cx="902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00B050"/>
                  </a:solidFill>
                </a:rPr>
                <a:t>arc_len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3DB543D-D962-0A1E-FFBE-0A15D0387B9D}"/>
              </a:ext>
            </a:extLst>
          </p:cNvPr>
          <p:cNvGrpSpPr/>
          <p:nvPr/>
        </p:nvGrpSpPr>
        <p:grpSpPr>
          <a:xfrm>
            <a:off x="6118637" y="3469324"/>
            <a:ext cx="5577070" cy="1202893"/>
            <a:chOff x="6286890" y="3516488"/>
            <a:chExt cx="5577070" cy="1202893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BC22FE6-235D-21DA-BA9B-903E09FF9FCE}"/>
                </a:ext>
              </a:extLst>
            </p:cNvPr>
            <p:cNvGrpSpPr/>
            <p:nvPr/>
          </p:nvGrpSpPr>
          <p:grpSpPr>
            <a:xfrm>
              <a:off x="6286890" y="3516488"/>
              <a:ext cx="2355414" cy="1202893"/>
              <a:chOff x="6191719" y="4907518"/>
              <a:chExt cx="2355414" cy="120289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1C5FCBB8-7BC0-B4A1-EFF1-2DCC4925D83A}"/>
                  </a:ext>
                </a:extLst>
              </p:cNvPr>
              <p:cNvGrpSpPr/>
              <p:nvPr/>
            </p:nvGrpSpPr>
            <p:grpSpPr>
              <a:xfrm rot="17636578">
                <a:off x="6859682" y="4582601"/>
                <a:ext cx="960120" cy="2095500"/>
                <a:chOff x="8497982" y="3526790"/>
                <a:chExt cx="960120" cy="2095500"/>
              </a:xfrm>
            </p:grpSpPr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52398FC7-3360-0577-2069-FDC38F4EE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576414" y="3590313"/>
                  <a:ext cx="850544" cy="1938879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39E0C27C-08C2-718F-2920-23EED3825B84}"/>
                    </a:ext>
                  </a:extLst>
                </p:cNvPr>
                <p:cNvSpPr/>
                <p:nvPr/>
              </p:nvSpPr>
              <p:spPr>
                <a:xfrm>
                  <a:off x="8497982" y="3526790"/>
                  <a:ext cx="960120" cy="2095500"/>
                </a:xfrm>
                <a:custGeom>
                  <a:avLst/>
                  <a:gdLst>
                    <a:gd name="connsiteX0" fmla="*/ 0 w 960120"/>
                    <a:gd name="connsiteY0" fmla="*/ 0 h 2095500"/>
                    <a:gd name="connsiteX1" fmla="*/ 68580 w 960120"/>
                    <a:gd name="connsiteY1" fmla="*/ 60960 h 2095500"/>
                    <a:gd name="connsiteX2" fmla="*/ 243840 w 960120"/>
                    <a:gd name="connsiteY2" fmla="*/ 175260 h 2095500"/>
                    <a:gd name="connsiteX3" fmla="*/ 358140 w 960120"/>
                    <a:gd name="connsiteY3" fmla="*/ 251460 h 2095500"/>
                    <a:gd name="connsiteX4" fmla="*/ 472440 w 960120"/>
                    <a:gd name="connsiteY4" fmla="*/ 335280 h 2095500"/>
                    <a:gd name="connsiteX5" fmla="*/ 533400 w 960120"/>
                    <a:gd name="connsiteY5" fmla="*/ 396240 h 2095500"/>
                    <a:gd name="connsiteX6" fmla="*/ 617220 w 960120"/>
                    <a:gd name="connsiteY6" fmla="*/ 525780 h 2095500"/>
                    <a:gd name="connsiteX7" fmla="*/ 662940 w 960120"/>
                    <a:gd name="connsiteY7" fmla="*/ 632460 h 2095500"/>
                    <a:gd name="connsiteX8" fmla="*/ 723900 w 960120"/>
                    <a:gd name="connsiteY8" fmla="*/ 830580 h 2095500"/>
                    <a:gd name="connsiteX9" fmla="*/ 739140 w 960120"/>
                    <a:gd name="connsiteY9" fmla="*/ 899160 h 2095500"/>
                    <a:gd name="connsiteX10" fmla="*/ 762000 w 960120"/>
                    <a:gd name="connsiteY10" fmla="*/ 975360 h 2095500"/>
                    <a:gd name="connsiteX11" fmla="*/ 800100 w 960120"/>
                    <a:gd name="connsiteY11" fmla="*/ 1112520 h 2095500"/>
                    <a:gd name="connsiteX12" fmla="*/ 807720 w 960120"/>
                    <a:gd name="connsiteY12" fmla="*/ 1173480 h 2095500"/>
                    <a:gd name="connsiteX13" fmla="*/ 830580 w 960120"/>
                    <a:gd name="connsiteY13" fmla="*/ 1249680 h 2095500"/>
                    <a:gd name="connsiteX14" fmla="*/ 853440 w 960120"/>
                    <a:gd name="connsiteY14" fmla="*/ 1409700 h 2095500"/>
                    <a:gd name="connsiteX15" fmla="*/ 891540 w 960120"/>
                    <a:gd name="connsiteY15" fmla="*/ 1539240 h 2095500"/>
                    <a:gd name="connsiteX16" fmla="*/ 899160 w 960120"/>
                    <a:gd name="connsiteY16" fmla="*/ 1600200 h 2095500"/>
                    <a:gd name="connsiteX17" fmla="*/ 937260 w 960120"/>
                    <a:gd name="connsiteY17" fmla="*/ 1714500 h 2095500"/>
                    <a:gd name="connsiteX18" fmla="*/ 960120 w 960120"/>
                    <a:gd name="connsiteY18" fmla="*/ 1783080 h 2095500"/>
                    <a:gd name="connsiteX19" fmla="*/ 952500 w 960120"/>
                    <a:gd name="connsiteY19" fmla="*/ 1943100 h 2095500"/>
                    <a:gd name="connsiteX20" fmla="*/ 944880 w 960120"/>
                    <a:gd name="connsiteY20" fmla="*/ 2095500 h 2095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960120" h="2095500">
                      <a:moveTo>
                        <a:pt x="0" y="0"/>
                      </a:moveTo>
                      <a:cubicBezTo>
                        <a:pt x="182967" y="109780"/>
                        <a:pt x="-114920" y="-74966"/>
                        <a:pt x="68580" y="60960"/>
                      </a:cubicBezTo>
                      <a:cubicBezTo>
                        <a:pt x="124625" y="102475"/>
                        <a:pt x="185500" y="137037"/>
                        <a:pt x="243840" y="175260"/>
                      </a:cubicBezTo>
                      <a:cubicBezTo>
                        <a:pt x="282142" y="200354"/>
                        <a:pt x="320040" y="226060"/>
                        <a:pt x="358140" y="251460"/>
                      </a:cubicBezTo>
                      <a:cubicBezTo>
                        <a:pt x="409572" y="285748"/>
                        <a:pt x="429914" y="295792"/>
                        <a:pt x="472440" y="335280"/>
                      </a:cubicBezTo>
                      <a:cubicBezTo>
                        <a:pt x="493498" y="354834"/>
                        <a:pt x="516697" y="372856"/>
                        <a:pt x="533400" y="396240"/>
                      </a:cubicBezTo>
                      <a:cubicBezTo>
                        <a:pt x="576359" y="456383"/>
                        <a:pt x="577012" y="454299"/>
                        <a:pt x="617220" y="525780"/>
                      </a:cubicBezTo>
                      <a:cubicBezTo>
                        <a:pt x="638890" y="564305"/>
                        <a:pt x="647974" y="589433"/>
                        <a:pt x="662940" y="632460"/>
                      </a:cubicBezTo>
                      <a:cubicBezTo>
                        <a:pt x="691212" y="713743"/>
                        <a:pt x="704164" y="751635"/>
                        <a:pt x="723900" y="830580"/>
                      </a:cubicBezTo>
                      <a:cubicBezTo>
                        <a:pt x="729580" y="853298"/>
                        <a:pt x="733180" y="876513"/>
                        <a:pt x="739140" y="899160"/>
                      </a:cubicBezTo>
                      <a:cubicBezTo>
                        <a:pt x="745889" y="924805"/>
                        <a:pt x="755251" y="949715"/>
                        <a:pt x="762000" y="975360"/>
                      </a:cubicBezTo>
                      <a:cubicBezTo>
                        <a:pt x="800376" y="1121189"/>
                        <a:pt x="751407" y="966440"/>
                        <a:pt x="800100" y="1112520"/>
                      </a:cubicBezTo>
                      <a:cubicBezTo>
                        <a:pt x="802640" y="1132840"/>
                        <a:pt x="803278" y="1153490"/>
                        <a:pt x="807720" y="1173480"/>
                      </a:cubicBezTo>
                      <a:cubicBezTo>
                        <a:pt x="813473" y="1199367"/>
                        <a:pt x="825836" y="1223589"/>
                        <a:pt x="830580" y="1249680"/>
                      </a:cubicBezTo>
                      <a:cubicBezTo>
                        <a:pt x="859333" y="1407820"/>
                        <a:pt x="816874" y="1278062"/>
                        <a:pt x="853440" y="1409700"/>
                      </a:cubicBezTo>
                      <a:cubicBezTo>
                        <a:pt x="874471" y="1485410"/>
                        <a:pt x="877803" y="1465977"/>
                        <a:pt x="891540" y="1539240"/>
                      </a:cubicBezTo>
                      <a:cubicBezTo>
                        <a:pt x="895314" y="1559367"/>
                        <a:pt x="893991" y="1580385"/>
                        <a:pt x="899160" y="1600200"/>
                      </a:cubicBezTo>
                      <a:cubicBezTo>
                        <a:pt x="909297" y="1639060"/>
                        <a:pt x="929384" y="1675119"/>
                        <a:pt x="937260" y="1714500"/>
                      </a:cubicBezTo>
                      <a:cubicBezTo>
                        <a:pt x="947108" y="1763739"/>
                        <a:pt x="939088" y="1741016"/>
                        <a:pt x="960120" y="1783080"/>
                      </a:cubicBezTo>
                      <a:cubicBezTo>
                        <a:pt x="957580" y="1836420"/>
                        <a:pt x="956052" y="1889818"/>
                        <a:pt x="952500" y="1943100"/>
                      </a:cubicBezTo>
                      <a:cubicBezTo>
                        <a:pt x="941795" y="2103682"/>
                        <a:pt x="944880" y="1910653"/>
                        <a:pt x="944880" y="2095500"/>
                      </a:cubicBez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7C22BAB6-8586-4793-16C0-B316EF768BF1}"/>
                  </a:ext>
                </a:extLst>
              </p:cNvPr>
              <p:cNvSpPr/>
              <p:nvPr/>
            </p:nvSpPr>
            <p:spPr>
              <a:xfrm>
                <a:off x="6419850" y="5445125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BB6F8EA7-C7B9-88B7-A8DD-5628E04F20BF}"/>
                  </a:ext>
                </a:extLst>
              </p:cNvPr>
              <p:cNvSpPr/>
              <p:nvPr/>
            </p:nvSpPr>
            <p:spPr>
              <a:xfrm>
                <a:off x="6657975" y="53149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DB1DE398-7EE7-C448-547F-67D0E594C7B7}"/>
                  </a:ext>
                </a:extLst>
              </p:cNvPr>
              <p:cNvSpPr/>
              <p:nvPr/>
            </p:nvSpPr>
            <p:spPr>
              <a:xfrm>
                <a:off x="6892925" y="5260975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85E367EB-8944-5E6F-1472-3DA7004AE0E4}"/>
                  </a:ext>
                </a:extLst>
              </p:cNvPr>
              <p:cNvSpPr/>
              <p:nvPr/>
            </p:nvSpPr>
            <p:spPr>
              <a:xfrm>
                <a:off x="7127875" y="52768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F2F17C5A-BF8B-8B0F-E112-950BE29BA28E}"/>
                  </a:ext>
                </a:extLst>
              </p:cNvPr>
              <p:cNvSpPr/>
              <p:nvPr/>
            </p:nvSpPr>
            <p:spPr>
              <a:xfrm>
                <a:off x="7362825" y="53149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0E3500-5856-C496-A05B-3BE02917EC97}"/>
                  </a:ext>
                </a:extLst>
              </p:cNvPr>
              <p:cNvSpPr txBox="1"/>
              <p:nvPr/>
            </p:nvSpPr>
            <p:spPr>
              <a:xfrm>
                <a:off x="6191719" y="511071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1</a:t>
                </a:r>
                <a:endParaRPr lang="ko-KR" altLang="en-US" baseline="-250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BF7328-F198-8B9E-E34E-EA68A99832A6}"/>
                  </a:ext>
                </a:extLst>
              </p:cNvPr>
              <p:cNvSpPr txBox="1"/>
              <p:nvPr/>
            </p:nvSpPr>
            <p:spPr>
              <a:xfrm>
                <a:off x="6490957" y="49773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2</a:t>
                </a:r>
                <a:endParaRPr lang="ko-KR" altLang="en-US" baseline="-250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1A81E4-32C0-51AB-B440-885E58C9EA9C}"/>
                  </a:ext>
                </a:extLst>
              </p:cNvPr>
              <p:cNvSpPr txBox="1"/>
              <p:nvPr/>
            </p:nvSpPr>
            <p:spPr>
              <a:xfrm>
                <a:off x="6777272" y="490751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3</a:t>
                </a:r>
                <a:endParaRPr lang="ko-KR" altLang="en-US" baseline="-250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EEDE42A-3453-1F6D-EA6D-318CF2B1AD71}"/>
                  </a:ext>
                </a:extLst>
              </p:cNvPr>
              <p:cNvSpPr txBox="1"/>
              <p:nvPr/>
            </p:nvSpPr>
            <p:spPr>
              <a:xfrm>
                <a:off x="7013971" y="4916011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4</a:t>
                </a:r>
                <a:endParaRPr lang="ko-KR" altLang="en-US" baseline="-250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3A0E71-6047-8604-2606-247C24271FE9}"/>
                  </a:ext>
                </a:extLst>
              </p:cNvPr>
              <p:cNvSpPr txBox="1"/>
              <p:nvPr/>
            </p:nvSpPr>
            <p:spPr>
              <a:xfrm>
                <a:off x="7272186" y="4978479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x</a:t>
                </a:r>
                <a:r>
                  <a:rPr lang="en-US" altLang="ko-KR" baseline="-25000" dirty="0"/>
                  <a:t>5</a:t>
                </a:r>
                <a:endParaRPr lang="ko-KR" altLang="en-US" baseline="-25000" dirty="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23D5DE5E-D9EA-E533-4C00-7606FDCF99D0}"/>
                  </a:ext>
                </a:extLst>
              </p:cNvPr>
              <p:cNvSpPr/>
              <p:nvPr/>
            </p:nvSpPr>
            <p:spPr>
              <a:xfrm>
                <a:off x="8255936" y="5480050"/>
                <a:ext cx="69850" cy="698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812147-64AC-2372-2EDD-8BD19FEB2F1B}"/>
                  </a:ext>
                </a:extLst>
              </p:cNvPr>
              <p:cNvSpPr txBox="1"/>
              <p:nvPr/>
            </p:nvSpPr>
            <p:spPr>
              <a:xfrm>
                <a:off x="8165297" y="5143579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err="1"/>
                  <a:t>x</a:t>
                </a:r>
                <a:r>
                  <a:rPr lang="en-US" altLang="ko-KR" baseline="-25000" dirty="0" err="1"/>
                  <a:t>n</a:t>
                </a:r>
                <a:endParaRPr lang="ko-KR" altLang="en-US" baseline="-25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0E92FC2-BF29-E778-2BFC-0B6F7E91D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2570" y="5360511"/>
                <a:ext cx="0" cy="23780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D2582EEB-DA12-4A37-8DCB-68436AC0D7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8314" y="5307330"/>
                <a:ext cx="0" cy="29098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5D54F237-8DBC-1317-A96E-4E5C595D6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0083" y="5307330"/>
                <a:ext cx="0" cy="29098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6260D434-30D6-7786-D3CF-92576A977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7738" y="5342255"/>
                <a:ext cx="0" cy="25606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5F1F28D-7CBA-B133-78FF-305244176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0706" y="5512911"/>
                <a:ext cx="0" cy="1020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10C796A1-FF5F-7F5E-FD8F-D4FF3EB682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7143" y="5498861"/>
                <a:ext cx="0" cy="1020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2198C35-4D66-4111-BB14-22363877F686}"/>
                </a:ext>
              </a:extLst>
            </p:cNvPr>
            <p:cNvSpPr txBox="1"/>
            <p:nvPr/>
          </p:nvSpPr>
          <p:spPr>
            <a:xfrm>
              <a:off x="8817998" y="3916300"/>
              <a:ext cx="304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이런 식으로 </a:t>
              </a:r>
              <a:r>
                <a:rPr lang="en-US" altLang="ko-KR" dirty="0"/>
                <a:t>arc</a:t>
              </a:r>
              <a:r>
                <a:rPr lang="ko-KR" altLang="en-US" dirty="0"/>
                <a:t>로부터 측정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9319BBE0-99EE-7D56-57C9-9A35816DECC5}"/>
              </a:ext>
            </a:extLst>
          </p:cNvPr>
          <p:cNvSpPr txBox="1"/>
          <p:nvPr/>
        </p:nvSpPr>
        <p:spPr>
          <a:xfrm>
            <a:off x="145154" y="4238468"/>
            <a:ext cx="51906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Unit: </a:t>
            </a:r>
            <a:r>
              <a:rPr lang="en-US" altLang="ko-KR" sz="1600" dirty="0" err="1"/>
              <a:t>px</a:t>
            </a:r>
            <a:r>
              <a:rPr lang="en-US" altLang="ko-KR" sz="1600" dirty="0"/>
              <a:t> or nm (suffix of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처리 결과 중 </a:t>
            </a:r>
            <a:r>
              <a:rPr lang="en-US" altLang="ko-KR" sz="1600" dirty="0"/>
              <a:t>raw</a:t>
            </a:r>
            <a:r>
              <a:rPr lang="ko-KR" altLang="en-US" sz="1600" dirty="0"/>
              <a:t>와 </a:t>
            </a:r>
            <a:r>
              <a:rPr lang="en-US" altLang="ko-KR" sz="1600" dirty="0"/>
              <a:t>raw</a:t>
            </a:r>
            <a:r>
              <a:rPr lang="ko-KR" altLang="en-US" sz="1600" dirty="0"/>
              <a:t>가 아닌 것의 차이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Raw: </a:t>
            </a:r>
            <a:r>
              <a:rPr lang="en-US" altLang="ko-KR" sz="1600" dirty="0" err="1"/>
              <a:t>signed_dist</a:t>
            </a:r>
            <a:r>
              <a:rPr lang="ko-KR" altLang="en-US" sz="1600" dirty="0"/>
              <a:t>와 이로부터 파생된 값들에 아무런 처리도 안 되어 있음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Raw </a:t>
            </a:r>
            <a:r>
              <a:rPr lang="ko-KR" altLang="en-US" sz="1600" dirty="0"/>
              <a:t>아닌 것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signed_dist</a:t>
            </a:r>
            <a:r>
              <a:rPr lang="en-US" altLang="ko-KR" sz="1600" dirty="0"/>
              <a:t> </a:t>
            </a:r>
            <a:r>
              <a:rPr lang="ko-KR" altLang="en-US" sz="1600" dirty="0"/>
              <a:t>구할 때</a:t>
            </a:r>
            <a:r>
              <a:rPr lang="en-US" altLang="ko-KR" sz="1600" dirty="0"/>
              <a:t>, </a:t>
            </a:r>
            <a:r>
              <a:rPr lang="ko-KR" altLang="en-US" sz="1600" dirty="0"/>
              <a:t>값들이 너무 </a:t>
            </a:r>
            <a:r>
              <a:rPr lang="en-US" altLang="ko-KR" sz="1600" dirty="0"/>
              <a:t>discrete</a:t>
            </a:r>
            <a:r>
              <a:rPr lang="ko-KR" altLang="en-US" sz="1600" dirty="0"/>
              <a:t>해서 </a:t>
            </a:r>
            <a:r>
              <a:rPr lang="en-US" altLang="ko-KR" sz="1600" dirty="0"/>
              <a:t>smoothing</a:t>
            </a:r>
            <a:r>
              <a:rPr lang="ko-KR" altLang="en-US" sz="1600" dirty="0"/>
              <a:t>과 </a:t>
            </a:r>
            <a:r>
              <a:rPr lang="en-US" altLang="ko-KR" sz="1600" dirty="0"/>
              <a:t>interpolation</a:t>
            </a:r>
            <a:r>
              <a:rPr lang="ko-KR" altLang="en-US" sz="1600" dirty="0"/>
              <a:t>을 한 것</a:t>
            </a:r>
            <a:r>
              <a:rPr lang="en-US" altLang="ko-KR" sz="1600" dirty="0"/>
              <a:t>. </a:t>
            </a:r>
            <a:r>
              <a:rPr lang="ko-KR" altLang="en-US" sz="1600" dirty="0"/>
              <a:t>이로부터 파생된 </a:t>
            </a:r>
            <a:r>
              <a:rPr lang="ko-KR" altLang="en-US" sz="1600" dirty="0" err="1"/>
              <a:t>값들에도</a:t>
            </a:r>
            <a:r>
              <a:rPr lang="ko-KR" altLang="en-US" sz="1600" dirty="0"/>
              <a:t> 이 영향이 있다</a:t>
            </a:r>
            <a:r>
              <a:rPr lang="en-US" altLang="ko-KR" sz="1600" dirty="0"/>
              <a:t>. </a:t>
            </a:r>
            <a:r>
              <a:rPr lang="ko-KR" altLang="en-US" sz="1600" dirty="0"/>
              <a:t>다만 </a:t>
            </a:r>
            <a:r>
              <a:rPr lang="en-US" altLang="ko-KR" sz="1600" dirty="0"/>
              <a:t>raw</a:t>
            </a:r>
            <a:r>
              <a:rPr lang="ko-KR" altLang="en-US" sz="1600" dirty="0"/>
              <a:t>와 비교했을 때 값은 거의 동일했다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3371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315</Words>
  <Application>Microsoft Office PowerPoint</Application>
  <PresentationFormat>와이드스크린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김병현</dc:creator>
  <cp:lastModifiedBy>김병현</cp:lastModifiedBy>
  <cp:revision>1</cp:revision>
  <dcterms:created xsi:type="dcterms:W3CDTF">2025-11-10T01:48:18Z</dcterms:created>
  <dcterms:modified xsi:type="dcterms:W3CDTF">2025-11-10T02:17:58Z</dcterms:modified>
</cp:coreProperties>
</file>